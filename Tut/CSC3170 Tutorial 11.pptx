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9" r:id="rId16"/>
    <p:sldId id="295" r:id="rId17"/>
    <p:sldId id="311" r:id="rId18"/>
    <p:sldId id="312" r:id="rId19"/>
    <p:sldId id="315" r:id="rId20"/>
    <p:sldId id="316" r:id="rId21"/>
    <p:sldId id="317" r:id="rId22"/>
    <p:sldId id="310" r:id="rId23"/>
  </p:sldIdLst>
  <p:sldSz cx="12192000" cy="6858000"/>
  <p:notesSz cx="12192000" cy="6858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9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57" autoAdjust="0"/>
    <p:restoredTop sz="78939" autoAdjust="0"/>
  </p:normalViewPr>
  <p:slideViewPr>
    <p:cSldViewPr showGuides="1">
      <p:cViewPr varScale="1">
        <p:scale>
          <a:sx n="109" d="100"/>
          <a:sy n="109" d="100"/>
        </p:scale>
        <p:origin x="466" y="96"/>
      </p:cViewPr>
      <p:guideLst>
        <p:guide orient="horz" pos="289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A4A6E-F1C8-4738-937D-D0D45617A72A}" type="datetimeFigureOut">
              <a:rPr lang="zh-CN" altLang="en-US" smtClean="0"/>
              <a:t>2024/12/5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DC975-9FAA-4620-8B85-78B2128842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06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10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i="0" dirty="0">
              <a:solidFill>
                <a:srgbClr val="59617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309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972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9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659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441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19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E433-9C3C-FC24-FAF6-AEA3A288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1D29BD-0C2B-45FD-7485-CBD6ED8F7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E7078F-C8D7-1E0B-4C41-1FCB3A7EE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0A2285-5C12-7BCA-B276-37FB558DD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342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AEF5-D9F6-9675-35EB-7F1119AB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57BF84-C110-1845-FF2E-70B476013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790711-0F4D-17AE-ADD9-1A179ACB9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FE7CF6-05F9-886A-80E3-F9F695740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67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975C3-54AB-BB68-1CFD-99446A80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2E3F49-4727-D631-7D64-25C8E08E2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19C896-DC6D-BCB3-B820-0A7A4E1F8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7D2784-8FC1-6CD0-6C2C-87B114C92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827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020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19AD-37AA-5444-52FE-73E7FB3D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82EF6F-3F75-406D-D915-A5413F2BE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640827-4AF8-8CDC-EA1C-081761194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AD83F7-54A7-887B-55E7-E7E8B01C3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418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B0A14-2D56-57DA-5266-338CED88D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3E0B2A-755B-9C04-9ED3-E3044986C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387534-B8FD-820F-560F-AB2111C85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793B6-8C37-00CF-C649-2CC42065FC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249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82DA-F0A1-8179-B6CA-6111E4E8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7A46F9-E4CC-09DC-E9A8-8FC7A19FC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F62779-E947-44F1-8EDB-518A8B941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E764FE-64C1-6382-77A4-42E08DF8E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8482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938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089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766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97F7F-95CB-49A3-5193-7FA754BFA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8AB54F-F5BF-9319-7143-3CC35057E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51874D-575B-4EDB-3161-AF14327BB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A0F389-88C1-1656-9D50-1F4FCFD83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1875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9E20-6A5D-058B-A32E-ED0B1B56C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3C9B54-BE8B-E443-4357-B9135F5F6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6F77B9-D1E0-D38C-57B8-F4FD8E0B8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2C87F6-DB37-6400-AFB0-C5EEF0C49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54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68DF8-C853-5782-26F0-A4E248F3C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B06F39-CD77-7B1E-5B65-2D7A044EE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534E82-9234-5AA0-02B7-30D9D38CF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97F371-3F4F-8BC0-2573-0A578609D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103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1F86-93C0-FC75-1893-0B779A972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909329-EE37-75C7-7ED5-DC28AD3D6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0D5175-13BC-8A24-9180-2876E9BEB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32C699-AED9-4C8C-1222-A5311C561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DC975-9FAA-4620-8B85-78B21288422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00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1225" y="3314374"/>
            <a:ext cx="10369550" cy="1668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01437" y="99092"/>
            <a:ext cx="1649568" cy="5326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31895" y="1693862"/>
            <a:ext cx="4728209" cy="1771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Segoe UI" panose="020B0502040204020203"/>
                <a:cs typeface="Segoe UI" panose="020B0502040204020203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841880"/>
            <a:ext cx="9274175" cy="3177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47476" y="6466601"/>
            <a:ext cx="2667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defRPr>
            </a:lvl1pPr>
          </a:lstStyle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283" y="198303"/>
            <a:ext cx="5723169" cy="5907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29347" y="1752600"/>
            <a:ext cx="4728209" cy="1773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" algn="ctr">
              <a:lnSpc>
                <a:spcPts val="6865"/>
              </a:lnSpc>
              <a:spcBef>
                <a:spcPts val="105"/>
              </a:spcBef>
            </a:pPr>
            <a:r>
              <a:rPr spc="-5" dirty="0"/>
              <a:t>CSC3170</a:t>
            </a:r>
          </a:p>
          <a:p>
            <a:pPr marL="11430" algn="ctr">
              <a:lnSpc>
                <a:spcPts val="6865"/>
              </a:lnSpc>
            </a:pPr>
            <a:r>
              <a:rPr lang="en-US" dirty="0"/>
              <a:t>Tutorial 11</a:t>
            </a:r>
            <a:endParaRPr i="1" spc="360" dirty="0">
              <a:solidFill>
                <a:srgbClr val="7E7E7E"/>
              </a:solidFill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3810000"/>
            <a:ext cx="9677400" cy="9329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7395" marR="2015490" indent="797560" algn="ctr">
              <a:lnSpc>
                <a:spcPct val="125000"/>
              </a:lnSpc>
              <a:spcBef>
                <a:spcPts val="95"/>
              </a:spcBef>
            </a:pPr>
            <a:r>
              <a:rPr sz="2400" spc="145" dirty="0">
                <a:latin typeface="Georgia" panose="02040502050405020303"/>
                <a:cs typeface="Georgia" panose="02040502050405020303"/>
              </a:rPr>
              <a:t>School</a:t>
            </a:r>
            <a:r>
              <a:rPr sz="2400" spc="160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215" dirty="0">
                <a:latin typeface="Georgia" panose="02040502050405020303"/>
                <a:cs typeface="Georgia" panose="02040502050405020303"/>
              </a:rPr>
              <a:t>of</a:t>
            </a:r>
            <a:r>
              <a:rPr sz="2400" spc="185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20" dirty="0">
                <a:latin typeface="Georgia" panose="02040502050405020303"/>
                <a:cs typeface="Georgia" panose="02040502050405020303"/>
              </a:rPr>
              <a:t>Data</a:t>
            </a:r>
            <a:r>
              <a:rPr lang="en-US" sz="2400" spc="165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45" dirty="0">
                <a:latin typeface="Georgia" panose="02040502050405020303"/>
                <a:cs typeface="Georgia" panose="02040502050405020303"/>
              </a:rPr>
              <a:t>Science</a:t>
            </a:r>
            <a:endParaRPr sz="2400" dirty="0">
              <a:latin typeface="Georgia" panose="02040502050405020303"/>
              <a:cs typeface="Georgia" panose="02040502050405020303"/>
            </a:endParaRPr>
          </a:p>
          <a:p>
            <a:pPr marL="12700" algn="ctr">
              <a:lnSpc>
                <a:spcPct val="100000"/>
              </a:lnSpc>
              <a:spcBef>
                <a:spcPts val="650"/>
              </a:spcBef>
            </a:pPr>
            <a:r>
              <a:rPr sz="2400" spc="175" dirty="0">
                <a:latin typeface="Georgia" panose="02040502050405020303"/>
                <a:cs typeface="Georgia" panose="02040502050405020303"/>
              </a:rPr>
              <a:t>The</a:t>
            </a:r>
            <a:r>
              <a:rPr sz="2400" spc="180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75" dirty="0">
                <a:latin typeface="Georgia" panose="02040502050405020303"/>
                <a:cs typeface="Georgia" panose="02040502050405020303"/>
              </a:rPr>
              <a:t>Chinese </a:t>
            </a:r>
            <a:r>
              <a:rPr sz="2400" spc="140" dirty="0">
                <a:latin typeface="Georgia" panose="02040502050405020303"/>
                <a:cs typeface="Georgia" panose="02040502050405020303"/>
              </a:rPr>
              <a:t>University</a:t>
            </a:r>
            <a:r>
              <a:rPr sz="2400" spc="215" dirty="0">
                <a:latin typeface="Georgia" panose="02040502050405020303"/>
                <a:cs typeface="Georgia" panose="02040502050405020303"/>
              </a:rPr>
              <a:t> of</a:t>
            </a:r>
            <a:r>
              <a:rPr sz="2400" spc="135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25" dirty="0">
                <a:latin typeface="Georgia" panose="02040502050405020303"/>
                <a:cs typeface="Georgia" panose="02040502050405020303"/>
              </a:rPr>
              <a:t>Hong</a:t>
            </a:r>
            <a:r>
              <a:rPr sz="2400" spc="225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30" dirty="0">
                <a:latin typeface="Georgia" panose="02040502050405020303"/>
                <a:cs typeface="Georgia" panose="02040502050405020303"/>
              </a:rPr>
              <a:t>Kong,</a:t>
            </a:r>
            <a:r>
              <a:rPr sz="2400" spc="160" dirty="0">
                <a:latin typeface="Georgia" panose="02040502050405020303"/>
                <a:cs typeface="Georgia" panose="02040502050405020303"/>
              </a:rPr>
              <a:t> </a:t>
            </a:r>
            <a:r>
              <a:rPr sz="2400" spc="180" dirty="0">
                <a:latin typeface="Georgia" panose="02040502050405020303"/>
                <a:cs typeface="Georgia" panose="02040502050405020303"/>
              </a:rPr>
              <a:t>Shenzhen</a:t>
            </a:r>
            <a:endParaRPr sz="2400" dirty="0">
              <a:latin typeface="Georgia" panose="02040502050405020303"/>
              <a:cs typeface="Georgia" panose="020405020504050203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39551" y="6466601"/>
            <a:ext cx="1682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sz="1200" dirty="0">
                <a:solidFill>
                  <a:srgbClr val="767676"/>
                </a:solidFill>
                <a:latin typeface="Lucida Console" panose="020B0609040504020204"/>
                <a:cs typeface="Lucida Console" panose="020B0609040504020204"/>
              </a:rPr>
              <a:t>2</a:t>
            </a:fld>
            <a:endParaRPr sz="1200" dirty="0">
              <a:latin typeface="Lucida Console" panose="020B0609040504020204"/>
              <a:cs typeface="Lucida Console" panose="020B0609040504020204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B837EA-DF20-4ED3-B6FD-DE101AD6F048}"/>
              </a:ext>
            </a:extLst>
          </p:cNvPr>
          <p:cNvSpPr txBox="1"/>
          <p:nvPr/>
        </p:nvSpPr>
        <p:spPr>
          <a:xfrm>
            <a:off x="381000" y="431959"/>
            <a:ext cx="5562600" cy="837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/>
              <a:t>Overview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741D6C-F53B-4425-547D-BC04FCBFFACC}"/>
              </a:ext>
            </a:extLst>
          </p:cNvPr>
          <p:cNvSpPr txBox="1"/>
          <p:nvPr/>
        </p:nvSpPr>
        <p:spPr>
          <a:xfrm>
            <a:off x="762000" y="1843950"/>
            <a:ext cx="6153672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l"/>
            </a:pPr>
            <a:r>
              <a:rPr lang="en-US" altLang="zh-CN" sz="2800" b="0" i="0" dirty="0">
                <a:effectLst/>
                <a:latin typeface="Arial" panose="020B0604020202020204" pitchFamily="34" charset="0"/>
              </a:rPr>
              <a:t>Heuristics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effectLst/>
                <a:latin typeface="Arial" panose="020B0604020202020204" pitchFamily="34" charset="0"/>
              </a:rPr>
              <a:t>Relational Algebra Equivalences</a:t>
            </a:r>
            <a:endParaRPr lang="en-US" altLang="zh-CN" sz="28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Logical Query Optimization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Nested Queries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Expression Rewriting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Exerci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se</a:t>
            </a:r>
            <a:endParaRPr lang="en-US" altLang="zh-CN" sz="28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altLang="zh-CN" sz="2400" b="0" i="0" dirty="0">
              <a:effectLst/>
              <a:latin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l"/>
            </a:pPr>
            <a:endParaRPr lang="en-US" altLang="zh-CN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b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zh-CN" altLang="en-US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68C0EB-0676-02EA-03D1-3DA4E976AC3A}"/>
              </a:ext>
            </a:extLst>
          </p:cNvPr>
          <p:cNvSpPr txBox="1"/>
          <p:nvPr/>
        </p:nvSpPr>
        <p:spPr>
          <a:xfrm>
            <a:off x="762000" y="1087450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Query Optimization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FE0012-E68D-CFDC-D379-5B56DA50081A}"/>
              </a:ext>
            </a:extLst>
          </p:cNvPr>
          <p:cNvSpPr txBox="1"/>
          <p:nvPr/>
        </p:nvSpPr>
        <p:spPr>
          <a:xfrm>
            <a:off x="457200" y="609600"/>
            <a:ext cx="5431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need Query Optimization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6CEC72-B04A-BEAC-718A-7F75F62B35C4}"/>
              </a:ext>
            </a:extLst>
          </p:cNvPr>
          <p:cNvSpPr txBox="1"/>
          <p:nvPr/>
        </p:nvSpPr>
        <p:spPr>
          <a:xfrm>
            <a:off x="838200" y="2209800"/>
            <a:ext cx="10972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Remember that SQL is declarative.</a:t>
            </a:r>
          </a:p>
          <a:p>
            <a:pPr algn="l"/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--User tells the DBMS what answer they want, not how to get the answer.</a:t>
            </a:r>
          </a:p>
          <a:p>
            <a:pPr algn="l"/>
            <a:endParaRPr lang="en-US" altLang="zh-CN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a big difference in performance based on plan is used</a:t>
            </a:r>
          </a:p>
        </p:txBody>
      </p:sp>
    </p:spTree>
    <p:extLst>
      <p:ext uri="{BB962C8B-B14F-4D97-AF65-F5344CB8AC3E}">
        <p14:creationId xmlns:p14="http://schemas.microsoft.com/office/powerpoint/2010/main" val="92162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5FA6B59-2533-BBF8-AE06-463C4E3D4CB0}"/>
              </a:ext>
            </a:extLst>
          </p:cNvPr>
          <p:cNvSpPr txBox="1"/>
          <p:nvPr/>
        </p:nvSpPr>
        <p:spPr>
          <a:xfrm>
            <a:off x="990600" y="1600200"/>
            <a:ext cx="9677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Heuristics / Rules</a:t>
            </a:r>
          </a:p>
          <a:p>
            <a:pPr algn="l"/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--Rewrite the query to remove stupid / inefficient things.</a:t>
            </a:r>
          </a:p>
          <a:p>
            <a:pPr algn="l"/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--These techniques may need to examine catalog, but they do not need to examine data.</a:t>
            </a:r>
          </a:p>
          <a:p>
            <a:pPr algn="l"/>
            <a:endParaRPr lang="en-US" altLang="zh-CN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Cost-based Search</a:t>
            </a:r>
          </a:p>
          <a:p>
            <a:pPr algn="l"/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--Use a model to estimate the cost of executing a plan.</a:t>
            </a:r>
          </a:p>
          <a:p>
            <a:pPr algn="l"/>
            <a:r>
              <a:rPr lang="en-US" altLang="zh-CN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--Evaluate multiple equivalent plans for a query and pick the one with the lowest cost.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530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ED94A72-F963-83C3-2E55-E980F28150AB}"/>
              </a:ext>
            </a:extLst>
          </p:cNvPr>
          <p:cNvSpPr txBox="1"/>
          <p:nvPr/>
        </p:nvSpPr>
        <p:spPr>
          <a:xfrm>
            <a:off x="952500" y="1012954"/>
            <a:ext cx="10287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can use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Heuristics/Rules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transform relational algebra expressions into equivalent expressions with lower costs, thereby achieving query optimization. These rules are typically applied to all queries. For example:</a:t>
            </a:r>
            <a:r>
              <a:rPr lang="en-US" altLang="zh-CN" sz="2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l"/>
            <a:r>
              <a:rPr lang="en-US" altLang="zh-CN" sz="28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Predicate Pushdown</a:t>
            </a:r>
          </a:p>
          <a:p>
            <a:r>
              <a:rPr lang="en-US" altLang="zh-CN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Projections Pushdown</a:t>
            </a:r>
          </a:p>
          <a:p>
            <a:r>
              <a:rPr lang="en-US" altLang="zh-C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Nested Quer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r>
              <a:rPr lang="en-US" altLang="zh-C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Expression Rewriting</a:t>
            </a:r>
          </a:p>
          <a:p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……</a:t>
            </a:r>
            <a:endParaRPr lang="en-US" altLang="zh-CN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669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E2C36EF-4AD4-26CF-CFE8-433690149450}"/>
              </a:ext>
            </a:extLst>
          </p:cNvPr>
          <p:cNvSpPr txBox="1"/>
          <p:nvPr/>
        </p:nvSpPr>
        <p:spPr>
          <a:xfrm>
            <a:off x="457200" y="4572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pingfang SC"/>
              </a:rPr>
              <a:t>Predicate Pushdown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AF47A3-546F-000E-8E9A-F4B35BDFA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910" y="1066800"/>
            <a:ext cx="953418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28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625B447-7406-4C1C-A69E-2B8025D8859F}"/>
              </a:ext>
            </a:extLst>
          </p:cNvPr>
          <p:cNvSpPr txBox="1"/>
          <p:nvPr/>
        </p:nvSpPr>
        <p:spPr>
          <a:xfrm>
            <a:off x="685800" y="5334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pingfang SC"/>
              </a:rPr>
              <a:t>Projections Pushdown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D7AE42-80DC-32A6-8CC3-765F5D36C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808" y="1143000"/>
            <a:ext cx="9314383" cy="505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26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780F27-3733-DF28-3F4C-D3038AB00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4" y="1066800"/>
            <a:ext cx="5021037" cy="1905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A8F246-A1DA-8C11-D78D-E212A38AE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936171"/>
            <a:ext cx="6744956" cy="52251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6536673-E01B-C415-05EB-EDF793F886A5}"/>
              </a:ext>
            </a:extLst>
          </p:cNvPr>
          <p:cNvSpPr txBox="1"/>
          <p:nvPr/>
        </p:nvSpPr>
        <p:spPr>
          <a:xfrm>
            <a:off x="327722" y="3548742"/>
            <a:ext cx="47440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Decompose predicates into their </a:t>
            </a:r>
          </a:p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simplest forms</a:t>
            </a:r>
          </a:p>
          <a:p>
            <a:pPr algn="l"/>
            <a:endParaRPr lang="en-US" altLang="zh-CN" sz="2400" dirty="0">
              <a:latin typeface="Arial" panose="020B0604020202020204" pitchFamily="34" charset="0"/>
            </a:endParaRPr>
          </a:p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Move the predicate to the lowest </a:t>
            </a:r>
          </a:p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applicable point in the plan.</a:t>
            </a:r>
          </a:p>
          <a:p>
            <a:pPr algn="l"/>
            <a:endParaRPr lang="en-US" altLang="zh-CN" sz="24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963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A6CF4-ECC8-E394-5D95-310EA2AB3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5B6D5D5-973C-2E8D-6BB2-5D376F5DD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4" y="1066800"/>
            <a:ext cx="5021037" cy="190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A1E1590-A371-852B-42E0-114B62E937F6}"/>
              </a:ext>
            </a:extLst>
          </p:cNvPr>
          <p:cNvSpPr txBox="1"/>
          <p:nvPr/>
        </p:nvSpPr>
        <p:spPr>
          <a:xfrm>
            <a:off x="327722" y="3548742"/>
            <a:ext cx="47440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Replace all Cartesian Products </a:t>
            </a:r>
          </a:p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with inner joins using the join </a:t>
            </a:r>
          </a:p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predicates.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8D0C7B-469C-B195-CA89-06066E6B7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238" y="1004612"/>
            <a:ext cx="6631530" cy="516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6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AFD37-4452-58BF-120B-F40FA753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4A2528B-7055-CE2F-223C-65BCC702C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4" y="1066800"/>
            <a:ext cx="5021037" cy="190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84FB727-66E0-AEFF-2C88-0C6BBF7F402A}"/>
              </a:ext>
            </a:extLst>
          </p:cNvPr>
          <p:cNvSpPr txBox="1"/>
          <p:nvPr/>
        </p:nvSpPr>
        <p:spPr>
          <a:xfrm>
            <a:off x="327722" y="3548742"/>
            <a:ext cx="47440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Eliminate redundant attributes </a:t>
            </a:r>
          </a:p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before pipeline breakers to </a:t>
            </a:r>
          </a:p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reduce materialization cost.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1650F9-6CDF-B59A-70F9-20DFD79E6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661" y="1066800"/>
            <a:ext cx="645209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94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9571-DB6B-37A3-87CB-9A0A194A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1EDD3B-D487-0977-6D47-17CD48A76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4" y="1066800"/>
            <a:ext cx="5021037" cy="190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B321637-BE8E-4768-A93D-58B9464A6379}"/>
              </a:ext>
            </a:extLst>
          </p:cNvPr>
          <p:cNvSpPr txBox="1"/>
          <p:nvPr/>
        </p:nvSpPr>
        <p:spPr>
          <a:xfrm>
            <a:off x="327722" y="3548742"/>
            <a:ext cx="47440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Eliminate redundant attributes </a:t>
            </a:r>
          </a:p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before pipeline breakers to </a:t>
            </a:r>
          </a:p>
          <a:p>
            <a:pPr algn="l"/>
            <a:r>
              <a:rPr lang="en-US" altLang="zh-CN" sz="2400" b="0" i="0" dirty="0">
                <a:effectLst/>
                <a:latin typeface="Arial" panose="020B0604020202020204" pitchFamily="34" charset="0"/>
              </a:rPr>
              <a:t>reduce materialization cost.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DAA7E8-226F-2DA9-E1F3-E8B2F6C29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456" y="1063171"/>
            <a:ext cx="6576300" cy="511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424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F784DB-FBFF-DEBA-077F-72270F3FD02C}"/>
              </a:ext>
            </a:extLst>
          </p:cNvPr>
          <p:cNvSpPr txBox="1"/>
          <p:nvPr/>
        </p:nvSpPr>
        <p:spPr>
          <a:xfrm>
            <a:off x="457200" y="4572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pingfang SC"/>
              </a:rPr>
              <a:t>Nested Query Rewrite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922CB7-34CB-21E7-700C-6CEF7DF2F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066800"/>
            <a:ext cx="7543800" cy="52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31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FF926-02B7-FB87-A3C3-DF8FC907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D72727B-B0F6-A84B-48C8-B530607F2EBF}"/>
              </a:ext>
            </a:extLst>
          </p:cNvPr>
          <p:cNvSpPr txBox="1"/>
          <p:nvPr/>
        </p:nvSpPr>
        <p:spPr>
          <a:xfrm>
            <a:off x="457200" y="4572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pingfang SC"/>
              </a:rPr>
              <a:t>Nested Query Decompose</a:t>
            </a:r>
            <a:endParaRPr lang="zh-CN" altLang="en-US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03D710-3C00-E316-495D-B72C08212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58744"/>
            <a:ext cx="9525000" cy="485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27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AEBBA-FA05-D19D-EB5F-083B35C6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6E0670-AE8F-EEF8-B6F9-3877340DCFE1}"/>
              </a:ext>
            </a:extLst>
          </p:cNvPr>
          <p:cNvSpPr txBox="1"/>
          <p:nvPr/>
        </p:nvSpPr>
        <p:spPr>
          <a:xfrm>
            <a:off x="457200" y="4572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pingfang SC"/>
              </a:rPr>
              <a:t>Nested Query Decompose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2B8E17-B2BC-2B1F-071B-1FE057466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29" y="1219200"/>
            <a:ext cx="8835571" cy="482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75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B2C1-10BA-50E6-9730-6B9CF837E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9E96B6B-ACC0-E34D-CC48-0A649C91F588}"/>
              </a:ext>
            </a:extLst>
          </p:cNvPr>
          <p:cNvSpPr txBox="1"/>
          <p:nvPr/>
        </p:nvSpPr>
        <p:spPr>
          <a:xfrm>
            <a:off x="457200" y="4572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00000"/>
                </a:solidFill>
                <a:effectLst/>
                <a:latin typeface="pingfang SC"/>
              </a:rPr>
              <a:t>Expression Rewrite</a:t>
            </a: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62642BA-2FF0-30AF-6765-F1981F69D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86" y="1630126"/>
            <a:ext cx="5201376" cy="4858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5429F58-D8A4-3D78-FEE8-48CE0972D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2002907"/>
            <a:ext cx="5220429" cy="53347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F198048-63C8-D16C-5638-398213019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415" y="1601547"/>
            <a:ext cx="5172797" cy="51442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2BB5FE2-9F54-F2FF-EAA5-1C899B71B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3468" y="2050186"/>
            <a:ext cx="5153744" cy="50489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BCB2E5C-497D-9527-7DAA-0A534E1D3D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220" y="3226440"/>
            <a:ext cx="5172797" cy="106694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006F76A-4BBC-F178-6DA9-D664CBDD24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273" y="4293389"/>
            <a:ext cx="5153744" cy="50489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EB77037-0116-1407-60BF-5117E94747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5253" y="3266005"/>
            <a:ext cx="5163271" cy="107647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4FB2051-4EBD-3BD1-4E98-0F737DE189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780" y="4293388"/>
            <a:ext cx="5153744" cy="50489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2EDFCF3-9AD3-9AC5-72A9-76B940D7AD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158" y="5424710"/>
            <a:ext cx="5172797" cy="102884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FD76881-D716-202F-DF82-5B781554FB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1999" y="5706483"/>
            <a:ext cx="5115639" cy="781159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CFE3188C-1F3B-6275-CA71-0D7B325601F4}"/>
              </a:ext>
            </a:extLst>
          </p:cNvPr>
          <p:cNvSpPr txBox="1"/>
          <p:nvPr/>
        </p:nvSpPr>
        <p:spPr>
          <a:xfrm>
            <a:off x="493486" y="1173061"/>
            <a:ext cx="4486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Impossible/Unnecessary predicate</a:t>
            </a:r>
            <a:endParaRPr lang="zh-CN" altLang="en-US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B461B78-E5F2-A004-744A-1C748F2EE5D9}"/>
              </a:ext>
            </a:extLst>
          </p:cNvPr>
          <p:cNvSpPr txBox="1"/>
          <p:nvPr/>
        </p:nvSpPr>
        <p:spPr>
          <a:xfrm>
            <a:off x="554273" y="2786599"/>
            <a:ext cx="1832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Join estimate</a:t>
            </a:r>
            <a:endParaRPr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858B535-8A27-64E7-3CC3-2CB8A0E150A1}"/>
              </a:ext>
            </a:extLst>
          </p:cNvPr>
          <p:cNvSpPr txBox="1"/>
          <p:nvPr/>
        </p:nvSpPr>
        <p:spPr>
          <a:xfrm>
            <a:off x="565158" y="4963045"/>
            <a:ext cx="2345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Predicates merge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05604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8806" y="2667000"/>
            <a:ext cx="3354388" cy="10323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6600" dirty="0"/>
              <a:t>Exercise</a:t>
            </a:r>
            <a:endParaRPr sz="66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D6B5828-56AB-39AB-5ABB-853BF32A0DC8}"/>
              </a:ext>
            </a:extLst>
          </p:cNvPr>
          <p:cNvSpPr txBox="1"/>
          <p:nvPr/>
        </p:nvSpPr>
        <p:spPr>
          <a:xfrm>
            <a:off x="571500" y="1219200"/>
            <a:ext cx="9296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student-course database, query the names of all courses taken by students in the Faculty of Computer Science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F27AC8-43CD-3B24-6E65-AA76CE37609F}"/>
              </a:ext>
            </a:extLst>
          </p:cNvPr>
          <p:cNvSpPr txBox="1"/>
          <p:nvPr/>
        </p:nvSpPr>
        <p:spPr>
          <a:xfrm>
            <a:off x="571500" y="2667000"/>
            <a:ext cx="1158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Cname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Student, Course, Score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Student.Sno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Score.Sno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Score.Cno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Course.Cno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Student.Sdept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=“CS"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9B2623-8C34-7638-7737-286EDC90D640}"/>
              </a:ext>
            </a:extLst>
          </p:cNvPr>
          <p:cNvSpPr txBox="1"/>
          <p:nvPr/>
        </p:nvSpPr>
        <p:spPr>
          <a:xfrm>
            <a:off x="590550" y="4495800"/>
            <a:ext cx="10210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the syntax tree and optimize the syntax tree with relational algebra and draw the optimized syntax tree</a:t>
            </a:r>
          </a:p>
        </p:txBody>
      </p:sp>
    </p:spTree>
    <p:extLst>
      <p:ext uri="{BB962C8B-B14F-4D97-AF65-F5344CB8AC3E}">
        <p14:creationId xmlns:p14="http://schemas.microsoft.com/office/powerpoint/2010/main" val="2214940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D6AA888-9644-49CF-61F3-90365F5070E7}"/>
              </a:ext>
            </a:extLst>
          </p:cNvPr>
          <p:cNvSpPr txBox="1"/>
          <p:nvPr/>
        </p:nvSpPr>
        <p:spPr>
          <a:xfrm>
            <a:off x="381000" y="22860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Cname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Student, Course, Score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Student.Sno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Score.Sno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Score.Cno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Course.Cno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Student.Sdept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=“CS"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F945EC-F792-BC1D-7AEA-8C23F60420C7}"/>
                  </a:ext>
                </a:extLst>
              </p:cNvPr>
              <p:cNvSpPr txBox="1"/>
              <p:nvPr/>
            </p:nvSpPr>
            <p:spPr>
              <a:xfrm>
                <a:off x="5537296" y="4830406"/>
                <a:ext cx="48250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F945EC-F792-BC1D-7AEA-8C23F6042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7296" y="4830406"/>
                <a:ext cx="482504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F1CE0744-1E2B-C246-3028-028F6D98D294}"/>
              </a:ext>
            </a:extLst>
          </p:cNvPr>
          <p:cNvSpPr txBox="1"/>
          <p:nvPr/>
        </p:nvSpPr>
        <p:spPr>
          <a:xfrm>
            <a:off x="4166373" y="6342216"/>
            <a:ext cx="1332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Student</a:t>
            </a:r>
            <a:endParaRPr lang="zh-CN" altLang="en-US" sz="2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3183F9-CE13-5AFA-56D0-74B8FC09F1D8}"/>
              </a:ext>
            </a:extLst>
          </p:cNvPr>
          <p:cNvSpPr txBox="1"/>
          <p:nvPr/>
        </p:nvSpPr>
        <p:spPr>
          <a:xfrm>
            <a:off x="6362362" y="6329275"/>
            <a:ext cx="986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Score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2A9C0F-AD6F-74A7-F252-688EB5990295}"/>
              </a:ext>
            </a:extLst>
          </p:cNvPr>
          <p:cNvSpPr txBox="1"/>
          <p:nvPr/>
        </p:nvSpPr>
        <p:spPr>
          <a:xfrm>
            <a:off x="8454928" y="4907349"/>
            <a:ext cx="1191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Course</a:t>
            </a:r>
            <a:endParaRPr lang="zh-CN" altLang="en-US" sz="2800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2F51AB9-3BFC-6F91-C612-94D86EB549B4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flipV="1">
            <a:off x="4832517" y="5445959"/>
            <a:ext cx="946031" cy="896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AE643BF-1A67-5D20-CACB-69D0B739B7E4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5778548" y="5445959"/>
            <a:ext cx="1077059" cy="8833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AFCB3C1-10CB-FE64-F4B6-DFE3C3C7BF43}"/>
                  </a:ext>
                </a:extLst>
              </p:cNvPr>
              <p:cNvSpPr txBox="1"/>
              <p:nvPr/>
            </p:nvSpPr>
            <p:spPr>
              <a:xfrm>
                <a:off x="7200704" y="3526753"/>
                <a:ext cx="48250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8AFCB3C1-10CB-FE64-F4B6-DFE3C3C7B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704" y="3526753"/>
                <a:ext cx="482504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E11C909-866C-B3AD-982D-C7606E42AC06}"/>
              </a:ext>
            </a:extLst>
          </p:cNvPr>
          <p:cNvCxnSpPr>
            <a:cxnSpLocks/>
            <a:stCxn id="25" idx="2"/>
            <a:endCxn id="12" idx="0"/>
          </p:cNvCxnSpPr>
          <p:nvPr/>
        </p:nvCxnSpPr>
        <p:spPr>
          <a:xfrm flipH="1">
            <a:off x="5778548" y="4142306"/>
            <a:ext cx="1663408" cy="688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8F31002-A373-91DE-57F1-AA2D9F101945}"/>
              </a:ext>
            </a:extLst>
          </p:cNvPr>
          <p:cNvCxnSpPr>
            <a:cxnSpLocks/>
            <a:stCxn id="25" idx="2"/>
            <a:endCxn id="15" idx="0"/>
          </p:cNvCxnSpPr>
          <p:nvPr/>
        </p:nvCxnSpPr>
        <p:spPr>
          <a:xfrm>
            <a:off x="7441956" y="4142306"/>
            <a:ext cx="1608776" cy="765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6CF45AB9-1D00-6F79-8C31-8863E0203FBB}"/>
                  </a:ext>
                </a:extLst>
              </p:cNvPr>
              <p:cNvSpPr txBox="1"/>
              <p:nvPr/>
            </p:nvSpPr>
            <p:spPr>
              <a:xfrm>
                <a:off x="5194056" y="875888"/>
                <a:ext cx="44958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𝑡𝑢𝑑𝑒𝑛𝑡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𝑆𝑛𝑜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𝑆𝑐𝑜𝑟𝑒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𝑠𝑛𝑜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6CF45AB9-1D00-6F79-8C31-8863E0203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56" y="875888"/>
                <a:ext cx="44958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E835571-7F47-AAF1-3D40-F4D60A345BB4}"/>
                  </a:ext>
                </a:extLst>
              </p:cNvPr>
              <p:cNvSpPr txBox="1"/>
              <p:nvPr/>
            </p:nvSpPr>
            <p:spPr>
              <a:xfrm>
                <a:off x="6758051" y="67060"/>
                <a:ext cx="13678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𝐶𝑛𝑎𝑚𝑒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FE835571-7F47-AAF1-3D40-F4D60A345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051" y="67060"/>
                <a:ext cx="1367810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71B08DA-0F29-EF5A-54B3-82A1726C237E}"/>
                  </a:ext>
                </a:extLst>
              </p:cNvPr>
              <p:cNvSpPr txBox="1"/>
              <p:nvPr/>
            </p:nvSpPr>
            <p:spPr>
              <a:xfrm>
                <a:off x="5141132" y="1650455"/>
                <a:ext cx="44958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core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𝐶𝑛𝑜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𝐶𝑜𝑢𝑟𝑠𝑒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𝐶𝑛𝑜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71B08DA-0F29-EF5A-54B3-82A1726C2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132" y="1650455"/>
                <a:ext cx="449580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D2C18AF-B1AD-AEC1-B8C5-3A09268DC3A3}"/>
                  </a:ext>
                </a:extLst>
              </p:cNvPr>
              <p:cNvSpPr txBox="1"/>
              <p:nvPr/>
            </p:nvSpPr>
            <p:spPr>
              <a:xfrm>
                <a:off x="5180779" y="2528063"/>
                <a:ext cx="4495800" cy="4641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𝑡𝑢𝑑𝑒𝑛𝑡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𝑆𝑑𝑒𝑝𝑡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D2C18AF-B1AD-AEC1-B8C5-3A09268DC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779" y="2528063"/>
                <a:ext cx="4495800" cy="4641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501FA14-5D8C-E5BB-394F-D39C1D9C4896}"/>
              </a:ext>
            </a:extLst>
          </p:cNvPr>
          <p:cNvCxnSpPr/>
          <p:nvPr/>
        </p:nvCxnSpPr>
        <p:spPr>
          <a:xfrm>
            <a:off x="7441956" y="3163938"/>
            <a:ext cx="0" cy="530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36026660-659A-B79A-3732-E4B028630285}"/>
              </a:ext>
            </a:extLst>
          </p:cNvPr>
          <p:cNvCxnSpPr/>
          <p:nvPr/>
        </p:nvCxnSpPr>
        <p:spPr>
          <a:xfrm>
            <a:off x="7441956" y="2167592"/>
            <a:ext cx="0" cy="530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B5B890F8-A2D8-3739-6FB3-23FC17276809}"/>
              </a:ext>
            </a:extLst>
          </p:cNvPr>
          <p:cNvCxnSpPr/>
          <p:nvPr/>
        </p:nvCxnSpPr>
        <p:spPr>
          <a:xfrm>
            <a:off x="7441956" y="1306775"/>
            <a:ext cx="0" cy="530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B06F764-7149-E025-0D9B-AD84A4266A30}"/>
              </a:ext>
            </a:extLst>
          </p:cNvPr>
          <p:cNvCxnSpPr/>
          <p:nvPr/>
        </p:nvCxnSpPr>
        <p:spPr>
          <a:xfrm>
            <a:off x="7441956" y="559503"/>
            <a:ext cx="0" cy="530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6E390499-1D5D-F957-0694-F10E5F367466}"/>
              </a:ext>
            </a:extLst>
          </p:cNvPr>
          <p:cNvSpPr txBox="1"/>
          <p:nvPr/>
        </p:nvSpPr>
        <p:spPr>
          <a:xfrm>
            <a:off x="327637" y="2809894"/>
            <a:ext cx="35921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Pushdown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Replacing the Cartesian product using Inner join.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3.P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rojection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Pushdown.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389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0F6B-26BF-0DB5-A698-93F0E2F3B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AD2C1CE8-3383-B5ED-424B-284B10EB8508}"/>
              </a:ext>
            </a:extLst>
          </p:cNvPr>
          <p:cNvSpPr txBox="1"/>
          <p:nvPr/>
        </p:nvSpPr>
        <p:spPr>
          <a:xfrm>
            <a:off x="381000" y="22860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Cname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Student, Course, Score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Student.Sno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Score.Sno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Score.Cno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Course.Cno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Student.Sdept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=“CS"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EF35C6A-9E4C-73C0-C8D6-ABB7F17E9DCA}"/>
                  </a:ext>
                </a:extLst>
              </p:cNvPr>
              <p:cNvSpPr txBox="1"/>
              <p:nvPr/>
            </p:nvSpPr>
            <p:spPr>
              <a:xfrm>
                <a:off x="5854748" y="4315426"/>
                <a:ext cx="48250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EF35C6A-9E4C-73C0-C8D6-ABB7F17E9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748" y="4315426"/>
                <a:ext cx="482504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1339F9C5-D987-61F4-2E38-3561AC1B0FC0}"/>
              </a:ext>
            </a:extLst>
          </p:cNvPr>
          <p:cNvSpPr txBox="1"/>
          <p:nvPr/>
        </p:nvSpPr>
        <p:spPr>
          <a:xfrm>
            <a:off x="4166373" y="6342216"/>
            <a:ext cx="1332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Student</a:t>
            </a:r>
            <a:endParaRPr lang="zh-CN" altLang="en-US" sz="2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D46B6ED-FF63-F799-DA01-B284D97E31A1}"/>
              </a:ext>
            </a:extLst>
          </p:cNvPr>
          <p:cNvSpPr txBox="1"/>
          <p:nvPr/>
        </p:nvSpPr>
        <p:spPr>
          <a:xfrm>
            <a:off x="6709175" y="5457458"/>
            <a:ext cx="986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Score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BC0E89-4FE8-C922-FD94-913C76CDB658}"/>
              </a:ext>
            </a:extLst>
          </p:cNvPr>
          <p:cNvSpPr txBox="1"/>
          <p:nvPr/>
        </p:nvSpPr>
        <p:spPr>
          <a:xfrm>
            <a:off x="8639925" y="3513770"/>
            <a:ext cx="1191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Course</a:t>
            </a:r>
            <a:endParaRPr lang="zh-CN" altLang="en-US" sz="2800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C50D5FF-DB95-827D-BBFE-4B46C05005F7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4832517" y="5982112"/>
            <a:ext cx="0" cy="360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0431E56-B4C2-6AF6-E9EB-F7D395323A0B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6096000" y="4930979"/>
            <a:ext cx="1106420" cy="5264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06F0602-D218-9D88-BB79-9F2F10DAEA73}"/>
                  </a:ext>
                </a:extLst>
              </p:cNvPr>
              <p:cNvSpPr txBox="1"/>
              <p:nvPr/>
            </p:nvSpPr>
            <p:spPr>
              <a:xfrm>
                <a:off x="7465223" y="2291034"/>
                <a:ext cx="482504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06F0602-D218-9D88-BB79-9F2F10DAE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5223" y="2291034"/>
                <a:ext cx="482504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346CD15-3658-24FE-CAC2-4E44856EE535}"/>
              </a:ext>
            </a:extLst>
          </p:cNvPr>
          <p:cNvCxnSpPr>
            <a:cxnSpLocks/>
            <a:stCxn id="25" idx="2"/>
            <a:endCxn id="15" idx="0"/>
          </p:cNvCxnSpPr>
          <p:nvPr/>
        </p:nvCxnSpPr>
        <p:spPr>
          <a:xfrm>
            <a:off x="7706475" y="2906587"/>
            <a:ext cx="1529254" cy="6071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6EAE793-EB98-C3E4-C20A-238D275B112D}"/>
                  </a:ext>
                </a:extLst>
              </p:cNvPr>
              <p:cNvSpPr txBox="1"/>
              <p:nvPr/>
            </p:nvSpPr>
            <p:spPr>
              <a:xfrm>
                <a:off x="3848091" y="3443057"/>
                <a:ext cx="44958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𝑡𝑢𝑑𝑒𝑛𝑡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𝑆𝑛𝑜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𝑆𝑐𝑜𝑟𝑒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𝑠𝑛𝑜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6EAE793-EB98-C3E4-C20A-238D275B1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8091" y="3443057"/>
                <a:ext cx="449580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FD093F4-1C44-54DE-0ABC-D9168E810B2E}"/>
                  </a:ext>
                </a:extLst>
              </p:cNvPr>
              <p:cNvSpPr txBox="1"/>
              <p:nvPr/>
            </p:nvSpPr>
            <p:spPr>
              <a:xfrm>
                <a:off x="7035026" y="250264"/>
                <a:ext cx="13678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𝐶𝑛𝑎𝑚𝑒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5FD093F4-1C44-54DE-0ABC-D9168E810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5026" y="250264"/>
                <a:ext cx="1367810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346339B-3CD1-B281-347B-A5F74B9F1D33}"/>
                  </a:ext>
                </a:extLst>
              </p:cNvPr>
              <p:cNvSpPr txBox="1"/>
              <p:nvPr/>
            </p:nvSpPr>
            <p:spPr>
              <a:xfrm>
                <a:off x="5492513" y="1191524"/>
                <a:ext cx="44958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core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𝐶𝑛𝑜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𝐶𝑜𝑢𝑟𝑠𝑒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𝐶𝑛𝑜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346339B-3CD1-B281-347B-A5F74B9F1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2513" y="1191524"/>
                <a:ext cx="449580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E79CD9D-DD7B-6050-3FB8-29EC2C5E3E92}"/>
                  </a:ext>
                </a:extLst>
              </p:cNvPr>
              <p:cNvSpPr txBox="1"/>
              <p:nvPr/>
            </p:nvSpPr>
            <p:spPr>
              <a:xfrm>
                <a:off x="2584617" y="5397770"/>
                <a:ext cx="4495800" cy="4641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𝑡𝑢𝑑𝑒𝑛𝑡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𝑆𝑑𝑒𝑝𝑡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E79CD9D-DD7B-6050-3FB8-29EC2C5E3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617" y="5397770"/>
                <a:ext cx="4495800" cy="4641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6DFE7EAB-5ADE-7BD4-CDB6-E38C78305745}"/>
              </a:ext>
            </a:extLst>
          </p:cNvPr>
          <p:cNvCxnSpPr/>
          <p:nvPr/>
        </p:nvCxnSpPr>
        <p:spPr>
          <a:xfrm>
            <a:off x="7718931" y="1760911"/>
            <a:ext cx="0" cy="530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63B3239-8F06-3EDF-008F-5D16347BC4D0}"/>
              </a:ext>
            </a:extLst>
          </p:cNvPr>
          <p:cNvCxnSpPr>
            <a:cxnSpLocks/>
            <a:stCxn id="12" idx="2"/>
            <a:endCxn id="48" idx="0"/>
          </p:cNvCxnSpPr>
          <p:nvPr/>
        </p:nvCxnSpPr>
        <p:spPr>
          <a:xfrm flipH="1">
            <a:off x="4832517" y="4930979"/>
            <a:ext cx="1263483" cy="4667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6A034183-0F05-3560-4758-B7F8823DAB90}"/>
              </a:ext>
            </a:extLst>
          </p:cNvPr>
          <p:cNvCxnSpPr>
            <a:cxnSpLocks/>
          </p:cNvCxnSpPr>
          <p:nvPr/>
        </p:nvCxnSpPr>
        <p:spPr>
          <a:xfrm>
            <a:off x="6096000" y="4033113"/>
            <a:ext cx="0" cy="3284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8EBB1B4-B53F-4242-318C-FDB0E2893C06}"/>
              </a:ext>
            </a:extLst>
          </p:cNvPr>
          <p:cNvCxnSpPr>
            <a:cxnSpLocks/>
            <a:stCxn id="25" idx="2"/>
            <a:endCxn id="42" idx="0"/>
          </p:cNvCxnSpPr>
          <p:nvPr/>
        </p:nvCxnSpPr>
        <p:spPr>
          <a:xfrm flipH="1">
            <a:off x="6095991" y="2906587"/>
            <a:ext cx="1610484" cy="5364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A52D234-24E6-9484-2359-FCDAE8D0F350}"/>
              </a:ext>
            </a:extLst>
          </p:cNvPr>
          <p:cNvCxnSpPr/>
          <p:nvPr/>
        </p:nvCxnSpPr>
        <p:spPr>
          <a:xfrm>
            <a:off x="7718931" y="830797"/>
            <a:ext cx="0" cy="530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856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29C7-80E4-DB76-6A49-856CF02B8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645EBBE-8DA8-7637-D14C-73CF8C25CE33}"/>
              </a:ext>
            </a:extLst>
          </p:cNvPr>
          <p:cNvSpPr txBox="1"/>
          <p:nvPr/>
        </p:nvSpPr>
        <p:spPr>
          <a:xfrm>
            <a:off x="381000" y="22860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Cname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Student, Course, Score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Student.Sno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Score.Sno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Score.Cno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Course.Cno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Student.Sdept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=“CS"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3C4CB45-26E8-685B-ACEE-5CAB32CA2521}"/>
                  </a:ext>
                </a:extLst>
              </p:cNvPr>
              <p:cNvSpPr txBox="1"/>
              <p:nvPr/>
            </p:nvSpPr>
            <p:spPr>
              <a:xfrm>
                <a:off x="4763712" y="3462525"/>
                <a:ext cx="385445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𝑡𝑢𝑑𝑒𝑛𝑡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𝑆𝑛𝑜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𝑆𝑐𝑜𝑟𝑒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𝑠𝑛𝑜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3C4CB45-26E8-685B-ACEE-5CAB32CA2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712" y="3462525"/>
                <a:ext cx="385445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1D474E02-9387-E3B3-1EC5-E55617BBFFC9}"/>
              </a:ext>
            </a:extLst>
          </p:cNvPr>
          <p:cNvSpPr txBox="1"/>
          <p:nvPr/>
        </p:nvSpPr>
        <p:spPr>
          <a:xfrm>
            <a:off x="4763712" y="5600705"/>
            <a:ext cx="1332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Student</a:t>
            </a:r>
            <a:endParaRPr lang="zh-CN" altLang="en-US" sz="2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F9F678-E2B8-E6ED-35C4-B09ABB07DA33}"/>
              </a:ext>
            </a:extLst>
          </p:cNvPr>
          <p:cNvSpPr txBox="1"/>
          <p:nvPr/>
        </p:nvSpPr>
        <p:spPr>
          <a:xfrm>
            <a:off x="7306514" y="4715947"/>
            <a:ext cx="986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Score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FFE893-B911-2727-735A-B90377E066B5}"/>
              </a:ext>
            </a:extLst>
          </p:cNvPr>
          <p:cNvSpPr txBox="1"/>
          <p:nvPr/>
        </p:nvSpPr>
        <p:spPr>
          <a:xfrm>
            <a:off x="9362323" y="3462525"/>
            <a:ext cx="1191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Course</a:t>
            </a:r>
            <a:endParaRPr lang="zh-CN" altLang="en-US" sz="2800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F19CF57-AF6A-A527-1F4B-399B1E869609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5429856" y="5240601"/>
            <a:ext cx="0" cy="360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53B9379-69F9-5060-E6C9-6E80591B5436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6690939" y="3954968"/>
            <a:ext cx="1108820" cy="760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8F98645-A31D-F01B-8AEA-F8EB5958D0E3}"/>
              </a:ext>
            </a:extLst>
          </p:cNvPr>
          <p:cNvCxnSpPr>
            <a:cxnSpLocks/>
            <a:stCxn id="47" idx="2"/>
            <a:endCxn id="15" idx="0"/>
          </p:cNvCxnSpPr>
          <p:nvPr/>
        </p:nvCxnSpPr>
        <p:spPr>
          <a:xfrm>
            <a:off x="8343900" y="2660035"/>
            <a:ext cx="1614227" cy="8024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BCF0F12-2F7B-467C-5EC2-C4A9344D8133}"/>
                  </a:ext>
                </a:extLst>
              </p:cNvPr>
              <p:cNvSpPr txBox="1"/>
              <p:nvPr/>
            </p:nvSpPr>
            <p:spPr>
              <a:xfrm>
                <a:off x="7720826" y="1146378"/>
                <a:ext cx="13678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𝐶𝑛𝑎𝑚𝑒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8BCF0F12-2F7B-467C-5EC2-C4A9344D8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826" y="1146378"/>
                <a:ext cx="136781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92E4CF1-1552-87AB-6FB6-A0B86BF4B8B7}"/>
                  </a:ext>
                </a:extLst>
              </p:cNvPr>
              <p:cNvSpPr txBox="1"/>
              <p:nvPr/>
            </p:nvSpPr>
            <p:spPr>
              <a:xfrm>
                <a:off x="6096000" y="2167592"/>
                <a:ext cx="44958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core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𝐶𝑛𝑜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𝐶𝑜𝑢𝑟𝑠𝑒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𝐶𝑛𝑜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D92E4CF1-1552-87AB-6FB6-A0B86BF4B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167592"/>
                <a:ext cx="449580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F2D1CD7E-B3BE-DD81-D24A-163C5426DC0A}"/>
                  </a:ext>
                </a:extLst>
              </p:cNvPr>
              <p:cNvSpPr txBox="1"/>
              <p:nvPr/>
            </p:nvSpPr>
            <p:spPr>
              <a:xfrm>
                <a:off x="3181956" y="4656259"/>
                <a:ext cx="4495800" cy="4641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𝑡𝑢𝑑𝑒𝑛𝑡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𝑆𝑑𝑒𝑝𝑡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F2D1CD7E-B3BE-DD81-D24A-163C5426D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956" y="4656259"/>
                <a:ext cx="4495800" cy="464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2A56229-F584-04C1-B54D-F91D41236F19}"/>
              </a:ext>
            </a:extLst>
          </p:cNvPr>
          <p:cNvCxnSpPr>
            <a:cxnSpLocks/>
            <a:stCxn id="12" idx="2"/>
            <a:endCxn id="48" idx="0"/>
          </p:cNvCxnSpPr>
          <p:nvPr/>
        </p:nvCxnSpPr>
        <p:spPr>
          <a:xfrm flipH="1">
            <a:off x="5429856" y="3954968"/>
            <a:ext cx="1261083" cy="701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2538BF8-DB1A-F55F-BDB9-AEF7DD675F83}"/>
              </a:ext>
            </a:extLst>
          </p:cNvPr>
          <p:cNvCxnSpPr>
            <a:cxnSpLocks/>
            <a:stCxn id="47" idx="2"/>
            <a:endCxn id="12" idx="0"/>
          </p:cNvCxnSpPr>
          <p:nvPr/>
        </p:nvCxnSpPr>
        <p:spPr>
          <a:xfrm flipH="1">
            <a:off x="6690939" y="2660035"/>
            <a:ext cx="1652961" cy="8024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B8ACAA78-2CD0-D938-0F98-309634D877B5}"/>
              </a:ext>
            </a:extLst>
          </p:cNvPr>
          <p:cNvCxnSpPr/>
          <p:nvPr/>
        </p:nvCxnSpPr>
        <p:spPr>
          <a:xfrm>
            <a:off x="8404731" y="1773089"/>
            <a:ext cx="0" cy="530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596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19149-DF35-508E-58A0-CCB7D0882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A3A56BF-D27F-84BE-55AD-F8E00401575A}"/>
              </a:ext>
            </a:extLst>
          </p:cNvPr>
          <p:cNvSpPr txBox="1"/>
          <p:nvPr/>
        </p:nvSpPr>
        <p:spPr>
          <a:xfrm>
            <a:off x="381000" y="22860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Cname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Student, Course, Score</a:t>
            </a:r>
          </a:p>
          <a:p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Student.Sno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Score.Sno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Score.Cno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Course.Cno 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Student.Sdept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=“CS"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C598E93-9B2C-604B-4746-AC1B1FCA4DD3}"/>
                  </a:ext>
                </a:extLst>
              </p:cNvPr>
              <p:cNvSpPr txBox="1"/>
              <p:nvPr/>
            </p:nvSpPr>
            <p:spPr>
              <a:xfrm>
                <a:off x="4696200" y="3353915"/>
                <a:ext cx="385445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𝑡𝑢𝑑𝑒𝑛𝑡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𝑆𝑛𝑜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𝑆𝑐𝑜𝑟𝑒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𝑠𝑛𝑜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C598E93-9B2C-604B-4746-AC1B1FCA4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200" y="3353915"/>
                <a:ext cx="385445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FB11A85B-5B0D-52A6-5CA1-28AA2BE1F93D}"/>
              </a:ext>
            </a:extLst>
          </p:cNvPr>
          <p:cNvSpPr txBox="1"/>
          <p:nvPr/>
        </p:nvSpPr>
        <p:spPr>
          <a:xfrm>
            <a:off x="4696200" y="6125230"/>
            <a:ext cx="1332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Student</a:t>
            </a:r>
            <a:endParaRPr lang="zh-CN" altLang="en-US" sz="2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D49166-9BC8-DEFD-D520-4F9E4B42A388}"/>
              </a:ext>
            </a:extLst>
          </p:cNvPr>
          <p:cNvSpPr txBox="1"/>
          <p:nvPr/>
        </p:nvSpPr>
        <p:spPr>
          <a:xfrm>
            <a:off x="7239002" y="5240472"/>
            <a:ext cx="986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Score</a:t>
            </a:r>
            <a:endParaRPr lang="zh-CN" altLang="en-US" sz="28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0C3A20-E483-A5F8-3C33-14798552E687}"/>
              </a:ext>
            </a:extLst>
          </p:cNvPr>
          <p:cNvSpPr txBox="1"/>
          <p:nvPr/>
        </p:nvSpPr>
        <p:spPr>
          <a:xfrm>
            <a:off x="9391592" y="4547649"/>
            <a:ext cx="1376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Course</a:t>
            </a:r>
            <a:endParaRPr lang="zh-CN" altLang="en-US" sz="2800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109C7F0-A3DD-BEB4-F19D-E2F62B405D02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5362344" y="5765126"/>
            <a:ext cx="0" cy="360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80154CA-1B87-FDDA-69C7-DA58A60D6A8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6623427" y="3846358"/>
            <a:ext cx="1108820" cy="760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0C3D5A8-E089-10CA-3140-B718D1969433}"/>
              </a:ext>
            </a:extLst>
          </p:cNvPr>
          <p:cNvCxnSpPr>
            <a:cxnSpLocks/>
            <a:stCxn id="47" idx="2"/>
            <a:endCxn id="11" idx="0"/>
          </p:cNvCxnSpPr>
          <p:nvPr/>
        </p:nvCxnSpPr>
        <p:spPr>
          <a:xfrm>
            <a:off x="8276388" y="2551425"/>
            <a:ext cx="1686607" cy="8969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AA2A755-CD7B-987F-BEE6-7B29D304215A}"/>
                  </a:ext>
                </a:extLst>
              </p:cNvPr>
              <p:cNvSpPr txBox="1"/>
              <p:nvPr/>
            </p:nvSpPr>
            <p:spPr>
              <a:xfrm>
                <a:off x="7732247" y="1017013"/>
                <a:ext cx="136781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𝐶𝑛𝑎𝑚𝑒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AA2A755-CD7B-987F-BEE6-7B29D3042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247" y="1017013"/>
                <a:ext cx="136781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4801815-55E8-C7DD-B49D-9C06213222F9}"/>
                  </a:ext>
                </a:extLst>
              </p:cNvPr>
              <p:cNvSpPr txBox="1"/>
              <p:nvPr/>
            </p:nvSpPr>
            <p:spPr>
              <a:xfrm>
                <a:off x="6028488" y="2058982"/>
                <a:ext cx="44958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  <m:t>core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𝐶𝑛𝑜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𝐶𝑜𝑢𝑟𝑠𝑒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𝐶𝑛𝑜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14801815-55E8-C7DD-B49D-9C0621322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488" y="2058982"/>
                <a:ext cx="449580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69D023F-5E5B-5B05-E4EA-15096B6BD988}"/>
                  </a:ext>
                </a:extLst>
              </p:cNvPr>
              <p:cNvSpPr txBox="1"/>
              <p:nvPr/>
            </p:nvSpPr>
            <p:spPr>
              <a:xfrm>
                <a:off x="3114444" y="5180784"/>
                <a:ext cx="4495800" cy="4641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𝑡𝑢𝑑𝑒𝑛𝑡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𝑆𝑑𝑒𝑝𝑡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"</m:t>
                          </m:r>
                        </m:sub>
                      </m:sSub>
                    </m:oMath>
                  </m:oMathPara>
                </a14:m>
                <a:endPara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69D023F-5E5B-5B05-E4EA-15096B6BD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444" y="5180784"/>
                <a:ext cx="4495800" cy="464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7C44ED7-4404-1EB1-E1AD-C21083D58BC3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362344" y="3846358"/>
            <a:ext cx="1261083" cy="701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8636824-5A18-7E5F-C1DD-3498AD536925}"/>
              </a:ext>
            </a:extLst>
          </p:cNvPr>
          <p:cNvCxnSpPr>
            <a:cxnSpLocks/>
            <a:stCxn id="47" idx="2"/>
            <a:endCxn id="12" idx="0"/>
          </p:cNvCxnSpPr>
          <p:nvPr/>
        </p:nvCxnSpPr>
        <p:spPr>
          <a:xfrm flipH="1">
            <a:off x="6623427" y="2551425"/>
            <a:ext cx="1652961" cy="8024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A51941B8-B2E1-733F-9A5B-ED02BFC90E6F}"/>
              </a:ext>
            </a:extLst>
          </p:cNvPr>
          <p:cNvCxnSpPr/>
          <p:nvPr/>
        </p:nvCxnSpPr>
        <p:spPr>
          <a:xfrm>
            <a:off x="8337219" y="1664479"/>
            <a:ext cx="0" cy="5301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6F335F7-A0B4-74B4-EECC-63461A9C53A9}"/>
                  </a:ext>
                </a:extLst>
              </p:cNvPr>
              <p:cNvSpPr txBox="1"/>
              <p:nvPr/>
            </p:nvSpPr>
            <p:spPr>
              <a:xfrm>
                <a:off x="4917799" y="4411342"/>
                <a:ext cx="88909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Sno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6F335F7-A0B4-74B4-EECC-63461A9C5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799" y="4411342"/>
                <a:ext cx="889090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E0B3609-80DC-942E-089C-871248C59CC8}"/>
              </a:ext>
            </a:extLst>
          </p:cNvPr>
          <p:cNvCxnSpPr>
            <a:cxnSpLocks/>
          </p:cNvCxnSpPr>
          <p:nvPr/>
        </p:nvCxnSpPr>
        <p:spPr>
          <a:xfrm flipV="1">
            <a:off x="5371638" y="4983260"/>
            <a:ext cx="0" cy="360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CBBAB09-798C-1C95-87F7-9B5475512470}"/>
                  </a:ext>
                </a:extLst>
              </p:cNvPr>
              <p:cNvSpPr txBox="1"/>
              <p:nvPr/>
            </p:nvSpPr>
            <p:spPr>
              <a:xfrm>
                <a:off x="6938820" y="4411342"/>
                <a:ext cx="1508042" cy="5140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Sno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𝐶𝑛𝑜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CBBAB09-798C-1C95-87F7-9B5475512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820" y="4411342"/>
                <a:ext cx="1508042" cy="5140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4A3455C-C6C0-77E1-5732-14C5C052CD6E}"/>
              </a:ext>
            </a:extLst>
          </p:cNvPr>
          <p:cNvCxnSpPr>
            <a:cxnSpLocks/>
          </p:cNvCxnSpPr>
          <p:nvPr/>
        </p:nvCxnSpPr>
        <p:spPr>
          <a:xfrm flipV="1">
            <a:off x="7692841" y="4983260"/>
            <a:ext cx="0" cy="360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FE8DF6E-1904-FAC7-C720-C4908E05E5D3}"/>
                  </a:ext>
                </a:extLst>
              </p:cNvPr>
              <p:cNvSpPr txBox="1"/>
              <p:nvPr/>
            </p:nvSpPr>
            <p:spPr>
              <a:xfrm>
                <a:off x="8967305" y="3448411"/>
                <a:ext cx="1991379" cy="5140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sty m:val="p"/>
                            </m:rPr>
                            <a:rPr lang="en-US" altLang="zh-CN" sz="3200" i="1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𝐶𝑛𝑎𝑚𝑒</m:t>
                          </m:r>
                        </m:sub>
                      </m:sSub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FE8DF6E-1904-FAC7-C720-C4908E05E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305" y="3448411"/>
                <a:ext cx="1991379" cy="5140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F47F39B-0542-17A2-0222-A4752DBA53FE}"/>
              </a:ext>
            </a:extLst>
          </p:cNvPr>
          <p:cNvCxnSpPr>
            <a:cxnSpLocks/>
          </p:cNvCxnSpPr>
          <p:nvPr/>
        </p:nvCxnSpPr>
        <p:spPr>
          <a:xfrm flipV="1">
            <a:off x="10000939" y="4078935"/>
            <a:ext cx="0" cy="5894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294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C4BF-BC71-21EF-F20E-8A0F9A2F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A4B352-95B4-E194-E2B0-6754799876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22812" y="2912833"/>
            <a:ext cx="2746375" cy="10323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6600" dirty="0"/>
              <a:t>Q&amp;A</a:t>
            </a:r>
            <a:endParaRPr sz="66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D645A15-0C1E-A28C-1417-6B47B3A936A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85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2118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RlNmU1YmFmMjE3YWQ4YWFhNmI1NmExMWY2MDljOTE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2857</TotalTime>
  <Words>552</Words>
  <Application>Microsoft Office PowerPoint</Application>
  <PresentationFormat>宽屏</PresentationFormat>
  <Paragraphs>150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pingfang SC</vt:lpstr>
      <vt:lpstr>等线</vt:lpstr>
      <vt:lpstr>Arial</vt:lpstr>
      <vt:lpstr>Calibri</vt:lpstr>
      <vt:lpstr>Cambria Math</vt:lpstr>
      <vt:lpstr>Georgia</vt:lpstr>
      <vt:lpstr>Lato</vt:lpstr>
      <vt:lpstr>Lucida Console</vt:lpstr>
      <vt:lpstr>Segoe UI</vt:lpstr>
      <vt:lpstr>Times New Roman</vt:lpstr>
      <vt:lpstr>Wingdings</vt:lpstr>
      <vt:lpstr>Office Theme</vt:lpstr>
      <vt:lpstr>CSC3170 Tutorial 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CSC3170 Tutorial 6</dc:title>
  <dc:creator>ASUS</dc:creator>
  <cp:lastModifiedBy>慧中 王</cp:lastModifiedBy>
  <cp:revision>126</cp:revision>
  <dcterms:created xsi:type="dcterms:W3CDTF">2024-09-09T11:07:00Z</dcterms:created>
  <dcterms:modified xsi:type="dcterms:W3CDTF">2024-12-05T10:28:09Z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2024-09-06T00:00:00Z</vt:filetime>
  </property>
  <property fmtid="{D5CDD505-2E9C-101B-9397-08002B2CF9AE}" pid="3" name="LastSaved">
    <vt:filetime>2024-09-10T00:00:00Z</vt:filetime>
  </property>
  <property fmtid="{D5CDD505-2E9C-101B-9397-08002B2CF9AE}" pid="4" name="ICV">
    <vt:lpwstr>9EDA8BBE6CC14CDCAC902ABE68C38F9E_13</vt:lpwstr>
  </property>
  <property fmtid="{D5CDD505-2E9C-101B-9397-08002B2CF9AE}" pid="5" name="KSOProductBuildVer">
    <vt:lpwstr>2052-12.1.0.18276</vt:lpwstr>
  </property>
</Properties>
</file>