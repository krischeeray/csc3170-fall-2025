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324" r:id="rId4"/>
    <p:sldId id="326" r:id="rId5"/>
    <p:sldId id="325" r:id="rId6"/>
    <p:sldId id="316" r:id="rId7"/>
    <p:sldId id="327" r:id="rId8"/>
    <p:sldId id="328" r:id="rId9"/>
    <p:sldId id="330" r:id="rId10"/>
    <p:sldId id="332" r:id="rId11"/>
    <p:sldId id="295" r:id="rId12"/>
  </p:sldIdLst>
  <p:sldSz cx="12192000" cy="6858000"/>
  <p:notesSz cx="12192000" cy="6858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92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757" autoAdjust="0"/>
    <p:restoredTop sz="78939" autoAdjust="0"/>
  </p:normalViewPr>
  <p:slideViewPr>
    <p:cSldViewPr showGuides="1">
      <p:cViewPr varScale="1">
        <p:scale>
          <a:sx n="109" d="100"/>
          <a:sy n="109" d="100"/>
        </p:scale>
        <p:origin x="466" y="96"/>
      </p:cViewPr>
      <p:guideLst>
        <p:guide orient="horz" pos="2892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EA4A6E-F1C8-4738-937D-D0D45617A72A}" type="datetimeFigureOut">
              <a:rPr lang="zh-CN" altLang="en-US" smtClean="0"/>
              <a:t>2024/11/28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CDC975-9FAA-4620-8B85-78B21288422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DC975-9FAA-4620-8B85-78B21288422C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40655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DC975-9FAA-4620-8B85-78B21288422C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30103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DC975-9FAA-4620-8B85-78B21288422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18917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A623A-D579-7618-B61F-9620A59D4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54D4754-1D95-83C6-B1C5-BC996167E4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1383F5B-CE6B-549F-B30E-E773D9D2A6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54F9F40-5DFD-475D-F127-761138A701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DC975-9FAA-4620-8B85-78B21288422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29780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DC975-9FAA-4620-8B85-78B21288422C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17292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DC975-9FAA-4620-8B85-78B21288422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42763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DC975-9FAA-4620-8B85-78B21288422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42326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DC975-9FAA-4620-8B85-78B21288422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20670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DC975-9FAA-4620-8B85-78B21288422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72592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DC975-9FAA-4620-8B85-78B21288422C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60895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DC975-9FAA-4620-8B85-78B21288422C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3938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1225" y="3314374"/>
            <a:ext cx="10369550" cy="16681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67676"/>
                </a:solidFill>
                <a:latin typeface="Lucida Console" panose="020B0609040504020204"/>
                <a:cs typeface="Lucida Console" panose="020B0609040504020204"/>
              </a:defRPr>
            </a:lvl1pPr>
          </a:lstStyle>
          <a:p>
            <a:pPr marL="38100">
              <a:lnSpc>
                <a:spcPts val="128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chemeClr val="tx1"/>
                </a:solidFill>
                <a:latin typeface="Segoe UI" panose="020B0502040204020203"/>
                <a:cs typeface="Segoe UI" panose="020B0502040204020203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Georgia" panose="02040502050405020303"/>
                <a:cs typeface="Georgia" panose="02040502050405020303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67676"/>
                </a:solidFill>
                <a:latin typeface="Lucida Console" panose="020B0609040504020204"/>
                <a:cs typeface="Lucida Console" panose="020B0609040504020204"/>
              </a:defRPr>
            </a:lvl1pPr>
          </a:lstStyle>
          <a:p>
            <a:pPr marL="38100">
              <a:lnSpc>
                <a:spcPts val="128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chemeClr val="tx1"/>
                </a:solidFill>
                <a:latin typeface="Segoe UI" panose="020B0502040204020203"/>
                <a:cs typeface="Segoe UI" panose="020B0502040204020203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67676"/>
                </a:solidFill>
                <a:latin typeface="Lucida Console" panose="020B0609040504020204"/>
                <a:cs typeface="Lucida Console" panose="020B0609040504020204"/>
              </a:defRPr>
            </a:lvl1pPr>
          </a:lstStyle>
          <a:p>
            <a:pPr marL="38100">
              <a:lnSpc>
                <a:spcPts val="128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chemeClr val="tx1"/>
                </a:solidFill>
                <a:latin typeface="Segoe UI" panose="020B0502040204020203"/>
                <a:cs typeface="Segoe UI" panose="020B0502040204020203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67676"/>
                </a:solidFill>
                <a:latin typeface="Lucida Console" panose="020B0609040504020204"/>
                <a:cs typeface="Lucida Console" panose="020B0609040504020204"/>
              </a:defRPr>
            </a:lvl1pPr>
          </a:lstStyle>
          <a:p>
            <a:pPr marL="38100">
              <a:lnSpc>
                <a:spcPts val="128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67676"/>
                </a:solidFill>
                <a:latin typeface="Lucida Console" panose="020B0609040504020204"/>
                <a:cs typeface="Lucida Console" panose="020B0609040504020204"/>
              </a:defRPr>
            </a:lvl1pPr>
          </a:lstStyle>
          <a:p>
            <a:pPr marL="38100">
              <a:lnSpc>
                <a:spcPts val="128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301437" y="99092"/>
            <a:ext cx="1649568" cy="53262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31895" y="1693862"/>
            <a:ext cx="4728209" cy="17710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chemeClr val="tx1"/>
                </a:solidFill>
                <a:latin typeface="Segoe UI" panose="020B0502040204020203"/>
                <a:cs typeface="Segoe UI" panose="020B0502040204020203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7575" y="1841880"/>
            <a:ext cx="9274175" cy="31775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Georgia" panose="02040502050405020303"/>
                <a:cs typeface="Georgia" panose="02040502050405020303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47476" y="6466601"/>
            <a:ext cx="266700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767676"/>
                </a:solidFill>
                <a:latin typeface="Lucida Console" panose="020B0609040504020204"/>
                <a:cs typeface="Lucida Console" panose="020B0609040504020204"/>
              </a:defRPr>
            </a:lvl1pPr>
          </a:lstStyle>
          <a:p>
            <a:pPr marL="38100">
              <a:lnSpc>
                <a:spcPts val="128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0283" y="198303"/>
            <a:ext cx="5723169" cy="59077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29347" y="1752600"/>
            <a:ext cx="4728209" cy="1773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430" algn="ctr">
              <a:lnSpc>
                <a:spcPts val="6865"/>
              </a:lnSpc>
              <a:spcBef>
                <a:spcPts val="105"/>
              </a:spcBef>
            </a:pPr>
            <a:r>
              <a:rPr spc="-5" dirty="0"/>
              <a:t>CSC3170</a:t>
            </a:r>
          </a:p>
          <a:p>
            <a:pPr marL="11430" algn="ctr">
              <a:lnSpc>
                <a:spcPts val="6865"/>
              </a:lnSpc>
            </a:pPr>
            <a:r>
              <a:rPr lang="en-US" dirty="0"/>
              <a:t>Tutorial 10</a:t>
            </a:r>
            <a:endParaRPr i="1" spc="360" dirty="0">
              <a:solidFill>
                <a:srgbClr val="7E7E7E"/>
              </a:solidFill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8200" y="3810000"/>
            <a:ext cx="9677400" cy="93294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17395" marR="2015490" indent="797560" algn="ctr">
              <a:lnSpc>
                <a:spcPct val="125000"/>
              </a:lnSpc>
              <a:spcBef>
                <a:spcPts val="95"/>
              </a:spcBef>
            </a:pPr>
            <a:r>
              <a:rPr sz="2400" spc="145" dirty="0">
                <a:latin typeface="Georgia" panose="02040502050405020303"/>
                <a:cs typeface="Georgia" panose="02040502050405020303"/>
              </a:rPr>
              <a:t>School</a:t>
            </a:r>
            <a:r>
              <a:rPr sz="2400" spc="160" dirty="0">
                <a:latin typeface="Georgia" panose="02040502050405020303"/>
                <a:cs typeface="Georgia" panose="02040502050405020303"/>
              </a:rPr>
              <a:t> </a:t>
            </a:r>
            <a:r>
              <a:rPr sz="2400" spc="215" dirty="0">
                <a:latin typeface="Georgia" panose="02040502050405020303"/>
                <a:cs typeface="Georgia" panose="02040502050405020303"/>
              </a:rPr>
              <a:t>of</a:t>
            </a:r>
            <a:r>
              <a:rPr sz="2400" spc="185" dirty="0">
                <a:latin typeface="Georgia" panose="02040502050405020303"/>
                <a:cs typeface="Georgia" panose="02040502050405020303"/>
              </a:rPr>
              <a:t> </a:t>
            </a:r>
            <a:r>
              <a:rPr sz="2400" spc="120" dirty="0">
                <a:latin typeface="Georgia" panose="02040502050405020303"/>
                <a:cs typeface="Georgia" panose="02040502050405020303"/>
              </a:rPr>
              <a:t>Data</a:t>
            </a:r>
            <a:r>
              <a:rPr lang="en-US" sz="2400" spc="165" dirty="0">
                <a:latin typeface="Georgia" panose="02040502050405020303"/>
                <a:cs typeface="Georgia" panose="02040502050405020303"/>
              </a:rPr>
              <a:t> </a:t>
            </a:r>
            <a:r>
              <a:rPr sz="2400" spc="145" dirty="0">
                <a:latin typeface="Georgia" panose="02040502050405020303"/>
                <a:cs typeface="Georgia" panose="02040502050405020303"/>
              </a:rPr>
              <a:t>Science</a:t>
            </a:r>
            <a:endParaRPr sz="2400" dirty="0">
              <a:latin typeface="Georgia" panose="02040502050405020303"/>
              <a:cs typeface="Georgia" panose="02040502050405020303"/>
            </a:endParaRPr>
          </a:p>
          <a:p>
            <a:pPr marL="12700" algn="ctr">
              <a:lnSpc>
                <a:spcPct val="100000"/>
              </a:lnSpc>
              <a:spcBef>
                <a:spcPts val="650"/>
              </a:spcBef>
            </a:pPr>
            <a:r>
              <a:rPr sz="2400" spc="175" dirty="0">
                <a:latin typeface="Georgia" panose="02040502050405020303"/>
                <a:cs typeface="Georgia" panose="02040502050405020303"/>
              </a:rPr>
              <a:t>The</a:t>
            </a:r>
            <a:r>
              <a:rPr sz="2400" spc="180" dirty="0">
                <a:latin typeface="Georgia" panose="02040502050405020303"/>
                <a:cs typeface="Georgia" panose="02040502050405020303"/>
              </a:rPr>
              <a:t> </a:t>
            </a:r>
            <a:r>
              <a:rPr sz="2400" spc="175" dirty="0">
                <a:latin typeface="Georgia" panose="02040502050405020303"/>
                <a:cs typeface="Georgia" panose="02040502050405020303"/>
              </a:rPr>
              <a:t>Chinese </a:t>
            </a:r>
            <a:r>
              <a:rPr sz="2400" spc="140" dirty="0">
                <a:latin typeface="Georgia" panose="02040502050405020303"/>
                <a:cs typeface="Georgia" panose="02040502050405020303"/>
              </a:rPr>
              <a:t>University</a:t>
            </a:r>
            <a:r>
              <a:rPr sz="2400" spc="215" dirty="0">
                <a:latin typeface="Georgia" panose="02040502050405020303"/>
                <a:cs typeface="Georgia" panose="02040502050405020303"/>
              </a:rPr>
              <a:t> of</a:t>
            </a:r>
            <a:r>
              <a:rPr sz="2400" spc="135" dirty="0">
                <a:latin typeface="Georgia" panose="02040502050405020303"/>
                <a:cs typeface="Georgia" panose="02040502050405020303"/>
              </a:rPr>
              <a:t> </a:t>
            </a:r>
            <a:r>
              <a:rPr sz="2400" spc="125" dirty="0">
                <a:latin typeface="Georgia" panose="02040502050405020303"/>
                <a:cs typeface="Georgia" panose="02040502050405020303"/>
              </a:rPr>
              <a:t>Hong</a:t>
            </a:r>
            <a:r>
              <a:rPr sz="2400" spc="225" dirty="0">
                <a:latin typeface="Georgia" panose="02040502050405020303"/>
                <a:cs typeface="Georgia" panose="02040502050405020303"/>
              </a:rPr>
              <a:t> </a:t>
            </a:r>
            <a:r>
              <a:rPr sz="2400" spc="130" dirty="0">
                <a:latin typeface="Georgia" panose="02040502050405020303"/>
                <a:cs typeface="Georgia" panose="02040502050405020303"/>
              </a:rPr>
              <a:t>Kong,</a:t>
            </a:r>
            <a:r>
              <a:rPr sz="2400" spc="160" dirty="0">
                <a:latin typeface="Georgia" panose="02040502050405020303"/>
                <a:cs typeface="Georgia" panose="02040502050405020303"/>
              </a:rPr>
              <a:t> </a:t>
            </a:r>
            <a:r>
              <a:rPr sz="2400" spc="180" dirty="0">
                <a:latin typeface="Georgia" panose="02040502050405020303"/>
                <a:cs typeface="Georgia" panose="02040502050405020303"/>
              </a:rPr>
              <a:t>Shenzhen</a:t>
            </a:r>
            <a:endParaRPr sz="2400" dirty="0">
              <a:latin typeface="Georgia" panose="02040502050405020303"/>
              <a:cs typeface="Georgia" panose="02040502050405020303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1139551" y="6466601"/>
            <a:ext cx="1682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85"/>
              </a:lnSpc>
            </a:pPr>
            <a:fld id="{81D60167-4931-47E6-BA6A-407CBD079E47}" type="slidenum">
              <a:rPr sz="1200" dirty="0">
                <a:solidFill>
                  <a:srgbClr val="767676"/>
                </a:solidFill>
                <a:latin typeface="Lucida Console" panose="020B0609040504020204"/>
                <a:cs typeface="Lucida Console" panose="020B0609040504020204"/>
              </a:rPr>
              <a:t>2</a:t>
            </a:fld>
            <a:endParaRPr sz="1200">
              <a:latin typeface="Lucida Console" panose="020B0609040504020204"/>
              <a:cs typeface="Lucida Console" panose="020B0609040504020204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2B837EA-DF20-4ED3-B6FD-DE101AD6F048}"/>
              </a:ext>
            </a:extLst>
          </p:cNvPr>
          <p:cNvSpPr txBox="1"/>
          <p:nvPr/>
        </p:nvSpPr>
        <p:spPr>
          <a:xfrm>
            <a:off x="247650" y="531679"/>
            <a:ext cx="5562600" cy="8374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600" b="1" dirty="0"/>
              <a:t>Overview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376AA46-603C-6E9B-50C7-9E29D9967F91}"/>
              </a:ext>
            </a:extLst>
          </p:cNvPr>
          <p:cNvSpPr txBox="1"/>
          <p:nvPr/>
        </p:nvSpPr>
        <p:spPr>
          <a:xfrm>
            <a:off x="247650" y="1676400"/>
            <a:ext cx="62484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/>
              <a:t>Processing Models</a:t>
            </a:r>
          </a:p>
          <a:p>
            <a:pPr marL="800100" lvl="1" indent="-342900">
              <a:buFont typeface="Wingdings" panose="05000000000000000000" pitchFamily="2" charset="2"/>
              <a:buChar char="l"/>
            </a:pPr>
            <a:r>
              <a:rPr lang="en-US" altLang="zh-CN" sz="2400" dirty="0"/>
              <a:t>Iterator model</a:t>
            </a:r>
          </a:p>
          <a:p>
            <a:pPr marL="800100" lvl="1" indent="-342900">
              <a:buFont typeface="Wingdings" panose="05000000000000000000" pitchFamily="2" charset="2"/>
              <a:buChar char="l"/>
            </a:pPr>
            <a:r>
              <a:rPr lang="en-US" altLang="zh-CN" sz="2400" dirty="0"/>
              <a:t>materialization model</a:t>
            </a:r>
          </a:p>
          <a:p>
            <a:pPr marL="800100" lvl="1" indent="-342900">
              <a:buFont typeface="Wingdings" panose="05000000000000000000" pitchFamily="2" charset="2"/>
              <a:buChar char="l"/>
            </a:pPr>
            <a:r>
              <a:rPr lang="en-US" altLang="zh-CN" sz="2400" dirty="0"/>
              <a:t>Vectorization model</a:t>
            </a:r>
          </a:p>
          <a:p>
            <a:pPr marL="800100" lvl="1" indent="-342900">
              <a:buFont typeface="Wingdings" panose="05000000000000000000" pitchFamily="2" charset="2"/>
              <a:buChar char="l"/>
            </a:pPr>
            <a:endParaRPr lang="en-US" altLang="zh-CN" sz="2400" b="1" dirty="0"/>
          </a:p>
          <a:p>
            <a:r>
              <a:rPr lang="en-US" altLang="zh-CN" sz="2400" b="1" dirty="0"/>
              <a:t>Access Methods</a:t>
            </a:r>
          </a:p>
          <a:p>
            <a:pPr marL="800100" lvl="1" indent="-342900">
              <a:buFont typeface="Wingdings" panose="05000000000000000000" pitchFamily="2" charset="2"/>
              <a:buChar char="l"/>
            </a:pPr>
            <a:r>
              <a:rPr lang="en-US" altLang="zh-CN" sz="2400" dirty="0">
                <a:latin typeface="+mj-lt"/>
                <a:cs typeface="Times New Roman" panose="02020603050405020304" pitchFamily="18" charset="0"/>
              </a:rPr>
              <a:t>Sequential scan and its optimizations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altLang="zh-CN" sz="2400" i="0" dirty="0">
                <a:effectLst/>
                <a:latin typeface="+mj-lt"/>
                <a:cs typeface="Times New Roman" panose="02020603050405020304" pitchFamily="18" charset="0"/>
              </a:rPr>
              <a:t>Zone MAPS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altLang="zh-CN" sz="2400" i="0" dirty="0">
                <a:effectLst/>
                <a:latin typeface="+mj-lt"/>
                <a:cs typeface="Times New Roman" panose="02020603050405020304" pitchFamily="18" charset="0"/>
              </a:rPr>
              <a:t>LATE MATERIALIZATION</a:t>
            </a:r>
            <a:endParaRPr lang="en-US" altLang="zh-CN" sz="2400" dirty="0">
              <a:latin typeface="+mj-lt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l"/>
            </a:pPr>
            <a:r>
              <a:rPr lang="en-US" altLang="zh-CN" sz="2400" dirty="0">
                <a:latin typeface="+mj-lt"/>
                <a:cs typeface="Times New Roman" panose="02020603050405020304" pitchFamily="18" charset="0"/>
              </a:rPr>
              <a:t>Index scan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+mj-lt"/>
                <a:cs typeface="Times New Roman" panose="02020603050405020304" pitchFamily="18" charset="0"/>
              </a:rPr>
              <a:t>Multi-Index Scan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1139551" y="6466601"/>
            <a:ext cx="1682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85"/>
              </a:lnSpc>
            </a:pPr>
            <a:fld id="{81D60167-4931-47E6-BA6A-407CBD079E47}" type="slidenum">
              <a:rPr sz="1200" dirty="0">
                <a:solidFill>
                  <a:srgbClr val="767676"/>
                </a:solidFill>
                <a:latin typeface="Lucida Console" panose="020B0609040504020204"/>
                <a:cs typeface="Lucida Console" panose="020B0609040504020204"/>
              </a:rPr>
              <a:t>3</a:t>
            </a:fld>
            <a:endParaRPr sz="1200">
              <a:latin typeface="Lucida Console" panose="020B0609040504020204"/>
              <a:cs typeface="Lucida Console" panose="020B0609040504020204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C0167FF-12A5-EC6E-1774-6B117EE832EF}"/>
              </a:ext>
            </a:extLst>
          </p:cNvPr>
          <p:cNvSpPr txBox="1"/>
          <p:nvPr/>
        </p:nvSpPr>
        <p:spPr>
          <a:xfrm>
            <a:off x="228600" y="0"/>
            <a:ext cx="6858000" cy="8374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600" b="1" dirty="0"/>
              <a:t>Processing Model: Iterator model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A7F49F3-79EC-4137-1244-877F03B1F4B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034" t="846" r="12796" b="45211"/>
          <a:stretch/>
        </p:blipFill>
        <p:spPr>
          <a:xfrm>
            <a:off x="472440" y="2468689"/>
            <a:ext cx="9067800" cy="4105474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96FF11E3-F520-D672-C2E2-C1CE219B99BE}"/>
              </a:ext>
            </a:extLst>
          </p:cNvPr>
          <p:cNvSpPr txBox="1"/>
          <p:nvPr/>
        </p:nvSpPr>
        <p:spPr>
          <a:xfrm>
            <a:off x="457200" y="837473"/>
            <a:ext cx="97536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sz="2000" dirty="0"/>
              <a:t>Each </a:t>
            </a:r>
            <a:r>
              <a:rPr lang="en-US" altLang="zh-CN" sz="2000" dirty="0">
                <a:solidFill>
                  <a:srgbClr val="FF0000"/>
                </a:solidFill>
              </a:rPr>
              <a:t>operator</a:t>
            </a:r>
            <a:r>
              <a:rPr lang="en-US" altLang="zh-CN" sz="2000" dirty="0"/>
              <a:t> in the query plan implements a </a:t>
            </a:r>
            <a:r>
              <a:rPr lang="en-US" altLang="zh-CN" sz="2000" dirty="0">
                <a:solidFill>
                  <a:srgbClr val="FF0000"/>
                </a:solidFill>
              </a:rPr>
              <a:t>next</a:t>
            </a:r>
            <a:r>
              <a:rPr lang="en-US" altLang="zh-CN" sz="2000" dirty="0"/>
              <a:t> function. 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sz="2000" dirty="0"/>
              <a:t>When called, the next function returns either </a:t>
            </a:r>
            <a:r>
              <a:rPr lang="en-US" altLang="zh-CN" sz="2000" dirty="0">
                <a:solidFill>
                  <a:srgbClr val="FF0000"/>
                </a:solidFill>
              </a:rPr>
              <a:t>a tuple or null</a:t>
            </a:r>
            <a:r>
              <a:rPr lang="en-US" altLang="zh-CN" sz="2000" dirty="0"/>
              <a:t>, with null indicating that all data has been traversed.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sz="2000" dirty="0"/>
              <a:t>Each operator has an internal loop that repeatedly calls the next function of its child operators to retrieve the next piece of data for its own processing. </a:t>
            </a:r>
          </a:p>
        </p:txBody>
      </p:sp>
    </p:spTree>
    <p:extLst>
      <p:ext uri="{BB962C8B-B14F-4D97-AF65-F5344CB8AC3E}">
        <p14:creationId xmlns:p14="http://schemas.microsoft.com/office/powerpoint/2010/main" val="11186442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B9584-8B3A-EB59-9945-CCDA27C30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A45D975E-A620-801C-8EF3-EFC9E9179284}"/>
              </a:ext>
            </a:extLst>
          </p:cNvPr>
          <p:cNvSpPr txBox="1"/>
          <p:nvPr/>
        </p:nvSpPr>
        <p:spPr>
          <a:xfrm>
            <a:off x="11139551" y="6466601"/>
            <a:ext cx="1682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85"/>
              </a:lnSpc>
            </a:pPr>
            <a:fld id="{81D60167-4931-47E6-BA6A-407CBD079E47}" type="slidenum">
              <a:rPr sz="1200" dirty="0">
                <a:solidFill>
                  <a:srgbClr val="767676"/>
                </a:solidFill>
                <a:latin typeface="Lucida Console" panose="020B0609040504020204"/>
                <a:cs typeface="Lucida Console" panose="020B0609040504020204"/>
              </a:rPr>
              <a:t>4</a:t>
            </a:fld>
            <a:endParaRPr sz="1200">
              <a:latin typeface="Lucida Console" panose="020B0609040504020204"/>
              <a:cs typeface="Lucida Console" panose="020B0609040504020204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6D3DF4B-6570-4917-AA14-DC19396FF338}"/>
              </a:ext>
            </a:extLst>
          </p:cNvPr>
          <p:cNvSpPr txBox="1"/>
          <p:nvPr/>
        </p:nvSpPr>
        <p:spPr>
          <a:xfrm>
            <a:off x="228600" y="0"/>
            <a:ext cx="6858000" cy="8374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600" b="1" dirty="0"/>
              <a:t>Processing Model: Iterator model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2FB66F3-0778-F170-173A-6FCCFDDB26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991" t="54444" r="51991"/>
          <a:stretch/>
        </p:blipFill>
        <p:spPr>
          <a:xfrm>
            <a:off x="125844" y="2216055"/>
            <a:ext cx="5741556" cy="34290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67017B1A-D89F-AF93-CBC9-9D0055EB9EEA}"/>
              </a:ext>
            </a:extLst>
          </p:cNvPr>
          <p:cNvSpPr txBox="1"/>
          <p:nvPr/>
        </p:nvSpPr>
        <p:spPr>
          <a:xfrm>
            <a:off x="381000" y="913578"/>
            <a:ext cx="109728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/>
              <a:t>Some operators remain blocked until their children return all tuples; these operators are known as </a:t>
            </a:r>
            <a:r>
              <a:rPr lang="en-US" altLang="zh-CN" sz="2400" b="1" dirty="0"/>
              <a:t>pipeline breakers</a:t>
            </a:r>
            <a:r>
              <a:rPr lang="en-US" altLang="zh-CN" sz="2400" dirty="0"/>
              <a:t>. Examples include </a:t>
            </a:r>
            <a:r>
              <a:rPr lang="en-US" altLang="zh-CN" sz="2400" b="1" dirty="0"/>
              <a:t>Joins</a:t>
            </a:r>
            <a:r>
              <a:rPr lang="en-US" altLang="zh-CN" sz="2400" dirty="0"/>
              <a:t>, </a:t>
            </a:r>
            <a:r>
              <a:rPr lang="en-US" altLang="zh-CN" sz="2400" b="1" dirty="0"/>
              <a:t>Subqueries</a:t>
            </a:r>
            <a:r>
              <a:rPr lang="en-US" altLang="zh-CN" sz="2400" dirty="0"/>
              <a:t>, and </a:t>
            </a:r>
            <a:r>
              <a:rPr lang="en-US" altLang="zh-CN" sz="2400" b="1" dirty="0"/>
              <a:t>Order By</a:t>
            </a:r>
            <a:r>
              <a:rPr lang="en-US" altLang="zh-CN" sz="2400" dirty="0"/>
              <a:t> operations.</a:t>
            </a:r>
            <a:endParaRPr lang="zh-CN" altLang="en-US" sz="2400" dirty="0">
              <a:latin typeface="+mj-lt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72C3E4A-7201-A178-189F-4BE1B01D2637}"/>
              </a:ext>
            </a:extLst>
          </p:cNvPr>
          <p:cNvSpPr txBox="1"/>
          <p:nvPr/>
        </p:nvSpPr>
        <p:spPr>
          <a:xfrm>
            <a:off x="5972334" y="1981200"/>
            <a:ext cx="6093822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/>
              <a:t>Initial Call to the Join Operator's Next():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/>
              <a:t>The top-level operator (Projection) invokes </a:t>
            </a:r>
            <a:r>
              <a:rPr lang="en-US" altLang="zh-CN" sz="2000" dirty="0" err="1"/>
              <a:t>child.Next</a:t>
            </a:r>
            <a:r>
              <a:rPr lang="en-US" altLang="zh-CN" sz="2000" dirty="0"/>
              <a:t>() on the Join operator to retrieve the first result.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/>
              <a:t>The Join operator needs to execute its join logic, and for a Hash Join, it must first build a hash table. Therefore, it gets </a:t>
            </a:r>
            <a:r>
              <a:rPr lang="en-US" altLang="zh-CN" sz="2000" b="1" dirty="0"/>
              <a:t>blocked </a:t>
            </a:r>
            <a:r>
              <a:rPr lang="en-US" altLang="zh-CN" sz="2000" dirty="0"/>
              <a:t>during the build phase.</a:t>
            </a:r>
          </a:p>
          <a:p>
            <a:r>
              <a:rPr lang="en-US" altLang="zh-CN" sz="2000" b="1" dirty="0"/>
              <a:t>Building the Hash Table: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/>
              <a:t>During the build phase, the Join operator calls </a:t>
            </a:r>
            <a:r>
              <a:rPr lang="en-US" altLang="zh-CN" sz="2000" dirty="0" err="1"/>
              <a:t>left.Next</a:t>
            </a:r>
            <a:r>
              <a:rPr lang="en-US" altLang="zh-CN" sz="2000" dirty="0"/>
              <a:t>() (corresponding to the scan operator for R).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/>
              <a:t>Each call to </a:t>
            </a:r>
            <a:r>
              <a:rPr lang="en-US" altLang="zh-CN" sz="2000" dirty="0" err="1"/>
              <a:t>left.Next</a:t>
            </a:r>
            <a:r>
              <a:rPr lang="en-US" altLang="zh-CN" sz="2000" dirty="0"/>
              <a:t>() retrieves a single tuple.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/>
              <a:t>For each record, the R.id value is added to the hash table until all records from the left subtree (R) are retrieved, completing the construction of the hash table.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7514824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5A301-A026-DB47-E417-E6D9359AC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3D5B26E8-294C-7C74-8D0E-AEEF6CB83E80}"/>
              </a:ext>
            </a:extLst>
          </p:cNvPr>
          <p:cNvSpPr txBox="1"/>
          <p:nvPr/>
        </p:nvSpPr>
        <p:spPr>
          <a:xfrm>
            <a:off x="11139551" y="6466601"/>
            <a:ext cx="1682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85"/>
              </a:lnSpc>
            </a:pPr>
            <a:fld id="{81D60167-4931-47E6-BA6A-407CBD079E47}" type="slidenum">
              <a:rPr sz="1200" dirty="0">
                <a:solidFill>
                  <a:srgbClr val="767676"/>
                </a:solidFill>
                <a:latin typeface="Lucida Console" panose="020B0609040504020204"/>
                <a:cs typeface="Lucida Console" panose="020B0609040504020204"/>
              </a:rPr>
              <a:t>5</a:t>
            </a:fld>
            <a:endParaRPr sz="1200">
              <a:latin typeface="Lucida Console" panose="020B0609040504020204"/>
              <a:cs typeface="Lucida Console" panose="020B0609040504020204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BA2B31B-2E01-B115-1E04-74BD157F67B8}"/>
              </a:ext>
            </a:extLst>
          </p:cNvPr>
          <p:cNvSpPr txBox="1"/>
          <p:nvPr/>
        </p:nvSpPr>
        <p:spPr>
          <a:xfrm>
            <a:off x="228600" y="0"/>
            <a:ext cx="6858000" cy="8374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600" b="1" dirty="0"/>
              <a:t>Processing Model: Iterator model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E34461D-E37F-460C-4397-D6E94C5B09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7778" t="54444"/>
          <a:stretch/>
        </p:blipFill>
        <p:spPr>
          <a:xfrm>
            <a:off x="206829" y="1219200"/>
            <a:ext cx="5996712" cy="4572000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0C6ECCD4-BBE5-508D-F98C-9698E39579B0}"/>
              </a:ext>
            </a:extLst>
          </p:cNvPr>
          <p:cNvSpPr txBox="1"/>
          <p:nvPr/>
        </p:nvSpPr>
        <p:spPr>
          <a:xfrm>
            <a:off x="6340358" y="837473"/>
            <a:ext cx="5623042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/>
              <a:t>Entering the Probe Phase: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/>
              <a:t>After building the hash table, the Join operator enters the Probe Phase.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/>
              <a:t>It calls the Next() method of its right child (scan operator for S) to retrieve records.</a:t>
            </a:r>
          </a:p>
          <a:p>
            <a:r>
              <a:rPr lang="en-US" altLang="zh-CN" sz="2000" b="1" dirty="0"/>
              <a:t>Processing Filter Condition:</a:t>
            </a:r>
          </a:p>
          <a:p>
            <a:r>
              <a:rPr lang="en-US" altLang="zh-CN" sz="2000" dirty="0"/>
              <a:t>For each record from S, it checks if </a:t>
            </a:r>
            <a:r>
              <a:rPr lang="en-US" altLang="zh-CN" sz="2000" dirty="0" err="1"/>
              <a:t>S.value</a:t>
            </a:r>
            <a:r>
              <a:rPr lang="en-US" altLang="zh-CN" sz="2000" dirty="0"/>
              <a:t> &gt; 100. If not, the record is discarded. If satisfied, the probe() function checks for a matching R.id in the hash table. If a match exists, the records from R and S are joined, and the result is emitted.</a:t>
            </a:r>
          </a:p>
          <a:p>
            <a:r>
              <a:rPr lang="en-US" altLang="zh-CN" sz="2000" b="1" dirty="0"/>
              <a:t>Subsequent Calls:</a:t>
            </a:r>
          </a:p>
          <a:p>
            <a:r>
              <a:rPr lang="en-US" altLang="zh-CN" sz="2000" dirty="0"/>
              <a:t>Further calls to </a:t>
            </a:r>
            <a:r>
              <a:rPr lang="en-US" altLang="zh-CN" sz="2000" dirty="0" err="1"/>
              <a:t>child.Next</a:t>
            </a:r>
            <a:r>
              <a:rPr lang="en-US" altLang="zh-CN" sz="2000" dirty="0"/>
              <a:t>() do not rebuild the hash table. The Join operator continues probing the right subtree (S) and emits results for matches.</a:t>
            </a:r>
          </a:p>
          <a:p>
            <a:r>
              <a:rPr lang="en-US" altLang="zh-CN" sz="2000" b="1" dirty="0"/>
              <a:t>Completion:</a:t>
            </a:r>
          </a:p>
          <a:p>
            <a:r>
              <a:rPr lang="en-US" altLang="zh-CN" sz="2000" dirty="0"/>
              <a:t>When all records from S are processed, </a:t>
            </a:r>
            <a:r>
              <a:rPr lang="en-US" altLang="zh-CN" sz="2000" dirty="0" err="1"/>
              <a:t>child.Next</a:t>
            </a:r>
            <a:r>
              <a:rPr lang="en-US" altLang="zh-CN" sz="2000" dirty="0"/>
              <a:t>() returns null, signaling the Join operator has finished execution.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199701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1139551" y="6466601"/>
            <a:ext cx="1682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85"/>
              </a:lnSpc>
            </a:pPr>
            <a:fld id="{81D60167-4931-47E6-BA6A-407CBD079E47}" type="slidenum">
              <a:rPr sz="1200" dirty="0">
                <a:solidFill>
                  <a:srgbClr val="767676"/>
                </a:solidFill>
                <a:latin typeface="Lucida Console" panose="020B0609040504020204"/>
                <a:cs typeface="Lucida Console" panose="020B0609040504020204"/>
              </a:rPr>
              <a:t>6</a:t>
            </a:fld>
            <a:endParaRPr sz="1200">
              <a:latin typeface="Lucida Console" panose="020B0609040504020204"/>
              <a:cs typeface="Lucida Console" panose="020B0609040504020204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8FFA4BD-8BD8-B694-CCE6-868A9B89C8F9}"/>
              </a:ext>
            </a:extLst>
          </p:cNvPr>
          <p:cNvSpPr txBox="1"/>
          <p:nvPr/>
        </p:nvSpPr>
        <p:spPr>
          <a:xfrm>
            <a:off x="228600" y="0"/>
            <a:ext cx="8153400" cy="8374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600" b="1" dirty="0"/>
              <a:t>Processing Model: Materialization Model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C199604-2C25-696F-A151-38748E77FF6E}"/>
              </a:ext>
            </a:extLst>
          </p:cNvPr>
          <p:cNvSpPr txBox="1"/>
          <p:nvPr/>
        </p:nvSpPr>
        <p:spPr>
          <a:xfrm>
            <a:off x="228600" y="859579"/>
            <a:ext cx="1149447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/>
              <a:t>Each query plan operator implements an Output function: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sz="2000" dirty="0"/>
              <a:t>The operator processes all the tuples of its children at once.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sz="2000" dirty="0"/>
              <a:t>The return result of this function is all the tuples that the operator will emit. </a:t>
            </a:r>
            <a:endParaRPr lang="zh-CN" altLang="en-US" sz="2000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EAE52D5F-6745-B7A4-1819-55300CF9C6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322" y="2145182"/>
            <a:ext cx="11334750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0299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03FDB-DA5C-7065-DAE1-7F7757D94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B1555028-C39A-3321-C416-5009922D5C4D}"/>
              </a:ext>
            </a:extLst>
          </p:cNvPr>
          <p:cNvSpPr txBox="1"/>
          <p:nvPr/>
        </p:nvSpPr>
        <p:spPr>
          <a:xfrm>
            <a:off x="11139551" y="6466601"/>
            <a:ext cx="1682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85"/>
              </a:lnSpc>
            </a:pPr>
            <a:fld id="{81D60167-4931-47E6-BA6A-407CBD079E47}" type="slidenum">
              <a:rPr sz="1200" dirty="0">
                <a:solidFill>
                  <a:srgbClr val="767676"/>
                </a:solidFill>
                <a:latin typeface="Lucida Console" panose="020B0609040504020204"/>
                <a:cs typeface="Lucida Console" panose="020B0609040504020204"/>
              </a:rPr>
              <a:t>7</a:t>
            </a:fld>
            <a:endParaRPr sz="1200">
              <a:latin typeface="Lucida Console" panose="020B0609040504020204"/>
              <a:cs typeface="Lucida Console" panose="020B0609040504020204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FDB0593-BC3C-99B2-8689-5106AD2EB23B}"/>
              </a:ext>
            </a:extLst>
          </p:cNvPr>
          <p:cNvSpPr txBox="1"/>
          <p:nvPr/>
        </p:nvSpPr>
        <p:spPr>
          <a:xfrm>
            <a:off x="228600" y="0"/>
            <a:ext cx="8153400" cy="8374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600" b="1" dirty="0"/>
              <a:t>Processing Model: Vectorization Model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9F160A2-31CD-DC37-9039-484F1D64FD3F}"/>
              </a:ext>
            </a:extLst>
          </p:cNvPr>
          <p:cNvSpPr txBox="1"/>
          <p:nvPr/>
        </p:nvSpPr>
        <p:spPr>
          <a:xfrm>
            <a:off x="7391400" y="1090246"/>
            <a:ext cx="4019793" cy="4785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 fontAlgn="base">
              <a:spcBef>
                <a:spcPts val="1650"/>
              </a:spcBef>
              <a:spcAft>
                <a:spcPts val="1650"/>
              </a:spcAft>
              <a:buFont typeface="Wingdings" panose="05000000000000000000" pitchFamily="2" charset="2"/>
              <a:buChar char="l"/>
            </a:pPr>
            <a:r>
              <a:rPr lang="en-US" altLang="zh-CN" sz="2000" dirty="0"/>
              <a:t>Like the Iterator Model where each operator implements a Next() function, but … </a:t>
            </a:r>
          </a:p>
          <a:p>
            <a:pPr marL="285750" indent="-285750" algn="l" fontAlgn="base">
              <a:spcBef>
                <a:spcPts val="1650"/>
              </a:spcBef>
              <a:spcAft>
                <a:spcPts val="1650"/>
              </a:spcAft>
              <a:buFont typeface="Wingdings" panose="05000000000000000000" pitchFamily="2" charset="2"/>
              <a:buChar char="l"/>
            </a:pPr>
            <a:r>
              <a:rPr lang="en-US" altLang="zh-CN" sz="2000" dirty="0"/>
              <a:t>Each operator emits a batch single tuple</a:t>
            </a:r>
          </a:p>
          <a:p>
            <a:pPr marL="742950" lvl="1" indent="-285750" fontAlgn="base">
              <a:spcBef>
                <a:spcPts val="1650"/>
              </a:spcBef>
              <a:spcAft>
                <a:spcPts val="1650"/>
              </a:spcAft>
              <a:buFont typeface="Arial" panose="020B0604020202020204" pitchFamily="34" charset="0"/>
              <a:buChar char="•"/>
            </a:pPr>
            <a:r>
              <a:rPr lang="en-US" altLang="zh-CN" sz="2000" dirty="0"/>
              <a:t>The operator’s internal loop processes multiple tuples at a time. </a:t>
            </a:r>
          </a:p>
          <a:p>
            <a:pPr marL="742950" lvl="1" indent="-285750" fontAlgn="base">
              <a:spcBef>
                <a:spcPts val="1650"/>
              </a:spcBef>
              <a:spcAft>
                <a:spcPts val="1650"/>
              </a:spcAft>
              <a:buFont typeface="Arial" panose="020B0604020202020204" pitchFamily="34" charset="0"/>
              <a:buChar char="•"/>
            </a:pPr>
            <a:r>
              <a:rPr lang="en-US" altLang="zh-CN" sz="2000" dirty="0"/>
              <a:t>The size of the batch can vary based on hardware or query properties</a:t>
            </a:r>
            <a:endParaRPr lang="zh-CN" altLang="en-US" sz="20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78DC948-9DDA-A0B1-84CC-CD4FE3BF0E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909" y="1090246"/>
            <a:ext cx="6796121" cy="5166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5049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EE8D3-3D20-582D-8311-6E8984960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D31F8E84-DF8A-CDC1-EF4F-413D2A6850F5}"/>
              </a:ext>
            </a:extLst>
          </p:cNvPr>
          <p:cNvSpPr txBox="1"/>
          <p:nvPr/>
        </p:nvSpPr>
        <p:spPr>
          <a:xfrm>
            <a:off x="11139551" y="6466601"/>
            <a:ext cx="1682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85"/>
              </a:lnSpc>
            </a:pPr>
            <a:fld id="{81D60167-4931-47E6-BA6A-407CBD079E47}" type="slidenum">
              <a:rPr sz="1200" dirty="0">
                <a:solidFill>
                  <a:srgbClr val="767676"/>
                </a:solidFill>
                <a:latin typeface="Lucida Console" panose="020B0609040504020204"/>
                <a:cs typeface="Lucida Console" panose="020B0609040504020204"/>
              </a:rPr>
              <a:t>8</a:t>
            </a:fld>
            <a:endParaRPr sz="1200">
              <a:latin typeface="Lucida Console" panose="020B0609040504020204"/>
              <a:cs typeface="Lucida Console" panose="020B0609040504020204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7959D3F-2A26-F1BD-F434-8820FA457E1C}"/>
              </a:ext>
            </a:extLst>
          </p:cNvPr>
          <p:cNvSpPr txBox="1"/>
          <p:nvPr/>
        </p:nvSpPr>
        <p:spPr>
          <a:xfrm>
            <a:off x="228600" y="0"/>
            <a:ext cx="10439400" cy="8374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600" b="1" i="0" dirty="0">
                <a:solidFill>
                  <a:srgbClr val="1D2129"/>
                </a:solidFill>
                <a:effectLst/>
                <a:latin typeface="UbuntuMono"/>
              </a:rPr>
              <a:t>Access Methods</a:t>
            </a:r>
            <a:r>
              <a:rPr lang="en-US" altLang="zh-CN" sz="3600" b="1" dirty="0"/>
              <a:t>: Sequential Scan and Optimization 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E718F1B-7119-040F-2D62-4C81007B636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6212"/>
          <a:stretch/>
        </p:blipFill>
        <p:spPr>
          <a:xfrm>
            <a:off x="326733" y="3782846"/>
            <a:ext cx="5580185" cy="2205639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764D6CAA-E310-9B3A-7A48-9D7702F00FE2}"/>
              </a:ext>
            </a:extLst>
          </p:cNvPr>
          <p:cNvSpPr txBox="1"/>
          <p:nvPr/>
        </p:nvSpPr>
        <p:spPr>
          <a:xfrm>
            <a:off x="6358398" y="918962"/>
            <a:ext cx="18442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1.Zone MAPS</a:t>
            </a:r>
            <a:endParaRPr lang="zh-CN" altLang="en-US" sz="2400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9263AC4B-E514-60AB-437D-BD54151C9F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9348" y="2517002"/>
            <a:ext cx="5819129" cy="2884268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D5B269DA-9F11-838F-3183-A5788ED3C757}"/>
              </a:ext>
            </a:extLst>
          </p:cNvPr>
          <p:cNvSpPr txBox="1"/>
          <p:nvPr/>
        </p:nvSpPr>
        <p:spPr>
          <a:xfrm>
            <a:off x="6477000" y="5526820"/>
            <a:ext cx="51596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/>
              <a:t>SELECT * FROM TABLE WHERE </a:t>
            </a:r>
            <a:r>
              <a:rPr lang="en-US" altLang="zh-CN" sz="2400" dirty="0" err="1"/>
              <a:t>val</a:t>
            </a:r>
            <a:r>
              <a:rPr lang="en-US" altLang="zh-CN" sz="2400" dirty="0">
                <a:solidFill>
                  <a:srgbClr val="FF0000"/>
                </a:solidFill>
              </a:rPr>
              <a:t> </a:t>
            </a:r>
            <a:r>
              <a:rPr lang="en-US" altLang="zh-CN" sz="2400" dirty="0"/>
              <a:t>&gt; </a:t>
            </a:r>
            <a:r>
              <a:rPr lang="en-US" altLang="zh-CN" sz="2400" dirty="0">
                <a:solidFill>
                  <a:srgbClr val="FF0000"/>
                </a:solidFill>
              </a:rPr>
              <a:t>500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D4E748E-C96D-37E2-A3C1-F5BBF1482551}"/>
              </a:ext>
            </a:extLst>
          </p:cNvPr>
          <p:cNvSpPr txBox="1"/>
          <p:nvPr/>
        </p:nvSpPr>
        <p:spPr>
          <a:xfrm>
            <a:off x="6339348" y="1380627"/>
            <a:ext cx="577645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/>
              <a:t>Pre-computed aggregates for the attribute values in a page. DBMS checks the zone map first to decide whether it wants to access the page. </a:t>
            </a:r>
            <a:endParaRPr lang="zh-CN" altLang="en-US" sz="2000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8801523-2346-E191-AD6A-5840B0FE7CFB}"/>
              </a:ext>
            </a:extLst>
          </p:cNvPr>
          <p:cNvSpPr txBox="1"/>
          <p:nvPr/>
        </p:nvSpPr>
        <p:spPr>
          <a:xfrm>
            <a:off x="228600" y="1038903"/>
            <a:ext cx="5776452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en-US" altLang="zh-CN" sz="2000" dirty="0"/>
              <a:t>A </a:t>
            </a:r>
            <a:r>
              <a:rPr lang="en-US" altLang="zh-CN" sz="2000" b="1" dirty="0"/>
              <a:t>sequential scan</a:t>
            </a:r>
            <a:r>
              <a:rPr lang="en-US" altLang="zh-CN" sz="2000" dirty="0"/>
              <a:t> is the simplest way to retrieve data—it reads tuples sequentially from the pages where the table is stored.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en-US" altLang="zh-CN" sz="2000" dirty="0"/>
              <a:t>The DBMS uses a cursor to track the position it last accessed (such as the page and slot).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en-US" altLang="zh-CN" sz="2000" dirty="0"/>
              <a:t>While this method works, it’s often considered the </a:t>
            </a:r>
            <a:r>
              <a:rPr lang="en-US" altLang="zh-CN" sz="2000" b="1" dirty="0"/>
              <a:t>worst-case strategy</a:t>
            </a:r>
            <a:r>
              <a:rPr lang="en-US" altLang="zh-CN" sz="2000" dirty="0"/>
              <a:t> because it can be very inefficient. 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5738238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3F42F-E022-763F-A44F-A2B90CD70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A3825536-ED04-6004-5FDF-3CD02BC54A9F}"/>
              </a:ext>
            </a:extLst>
          </p:cNvPr>
          <p:cNvSpPr txBox="1"/>
          <p:nvPr/>
        </p:nvSpPr>
        <p:spPr>
          <a:xfrm>
            <a:off x="11139551" y="6466601"/>
            <a:ext cx="1682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85"/>
              </a:lnSpc>
            </a:pPr>
            <a:fld id="{81D60167-4931-47E6-BA6A-407CBD079E47}" type="slidenum">
              <a:rPr sz="1200" dirty="0">
                <a:solidFill>
                  <a:srgbClr val="767676"/>
                </a:solidFill>
                <a:latin typeface="Lucida Console" panose="020B0609040504020204"/>
                <a:cs typeface="Lucida Console" panose="020B0609040504020204"/>
              </a:rPr>
              <a:t>9</a:t>
            </a:fld>
            <a:endParaRPr sz="1200">
              <a:latin typeface="Lucida Console" panose="020B0609040504020204"/>
              <a:cs typeface="Lucida Console" panose="020B0609040504020204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7E32EAB-EA25-AF35-EF19-59F4581962B9}"/>
              </a:ext>
            </a:extLst>
          </p:cNvPr>
          <p:cNvSpPr txBox="1"/>
          <p:nvPr/>
        </p:nvSpPr>
        <p:spPr>
          <a:xfrm>
            <a:off x="228600" y="0"/>
            <a:ext cx="10439400" cy="8374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600" b="1" i="0" dirty="0">
                <a:solidFill>
                  <a:srgbClr val="1D2129"/>
                </a:solidFill>
                <a:effectLst/>
                <a:latin typeface="UbuntuMono"/>
              </a:rPr>
              <a:t>Access Methods</a:t>
            </a:r>
            <a:r>
              <a:rPr lang="en-US" altLang="zh-CN" sz="3600" b="1" dirty="0"/>
              <a:t>: Sequential Scan and Optimization 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0FDB051-E7FE-EB9E-9D2E-6F82E180B546}"/>
              </a:ext>
            </a:extLst>
          </p:cNvPr>
          <p:cNvSpPr txBox="1"/>
          <p:nvPr/>
        </p:nvSpPr>
        <p:spPr>
          <a:xfrm>
            <a:off x="263853" y="914909"/>
            <a:ext cx="34819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</a:t>
            </a:r>
            <a:r>
              <a:rPr lang="en-US" altLang="zh-CN" sz="24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 LATE MATERIALIZATION</a:t>
            </a:r>
            <a:endParaRPr lang="zh-CN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7E47ED3-0633-7786-06E9-F8986400F291}"/>
              </a:ext>
            </a:extLst>
          </p:cNvPr>
          <p:cNvSpPr txBox="1"/>
          <p:nvPr/>
        </p:nvSpPr>
        <p:spPr>
          <a:xfrm>
            <a:off x="574013" y="1418879"/>
            <a:ext cx="1104397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sz="2000" dirty="0"/>
              <a:t>For columnar DBMS, we can delay passing data from one operator to another. 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sz="2000" dirty="0"/>
              <a:t>If a certain column's data is not required further up in the query tree, we only need to pass the </a:t>
            </a:r>
            <a:r>
              <a:rPr lang="en-US" altLang="zh-CN" sz="2000" b="1" dirty="0"/>
              <a:t>offset</a:t>
            </a:r>
            <a:r>
              <a:rPr lang="en-US" altLang="zh-CN" sz="2000" dirty="0"/>
              <a:t> or the </a:t>
            </a:r>
            <a:r>
              <a:rPr lang="en-US" altLang="zh-CN" sz="2000" b="1" dirty="0"/>
              <a:t>column ID</a:t>
            </a:r>
            <a:r>
              <a:rPr lang="en-US" altLang="zh-CN" sz="2000" dirty="0"/>
              <a:t>. 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sz="2000" dirty="0"/>
              <a:t>This approach allows us to retrieve the necessary data later, only when it is actually needed.</a:t>
            </a:r>
            <a:endParaRPr lang="zh-CN" altLang="en-US" sz="2000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7106F1DF-2CE4-4EBE-7134-A68318FB8D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725" y="2898978"/>
            <a:ext cx="9829800" cy="37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77068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B4D42-8A40-E407-FA19-CD46995F0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C8A38B3F-0F4D-78D3-B079-8620B8A56CA1}"/>
              </a:ext>
            </a:extLst>
          </p:cNvPr>
          <p:cNvSpPr txBox="1"/>
          <p:nvPr/>
        </p:nvSpPr>
        <p:spPr>
          <a:xfrm>
            <a:off x="11139551" y="6466601"/>
            <a:ext cx="36664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85"/>
              </a:lnSpc>
            </a:pPr>
            <a:fld id="{81D60167-4931-47E6-BA6A-407CBD079E47}" type="slidenum">
              <a:rPr sz="1200" dirty="0">
                <a:solidFill>
                  <a:srgbClr val="767676"/>
                </a:solidFill>
                <a:latin typeface="Lucida Console" panose="020B0609040504020204"/>
                <a:cs typeface="Lucida Console" panose="020B0609040504020204"/>
              </a:rPr>
              <a:t>10</a:t>
            </a:fld>
            <a:endParaRPr sz="1200" dirty="0">
              <a:latin typeface="Lucida Console" panose="020B0609040504020204"/>
              <a:cs typeface="Lucida Console" panose="020B0609040504020204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6B27857-1A11-8917-1071-1F0F64F42312}"/>
              </a:ext>
            </a:extLst>
          </p:cNvPr>
          <p:cNvSpPr txBox="1"/>
          <p:nvPr/>
        </p:nvSpPr>
        <p:spPr>
          <a:xfrm>
            <a:off x="228600" y="0"/>
            <a:ext cx="10439400" cy="8374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600" b="1" i="0" dirty="0">
                <a:solidFill>
                  <a:srgbClr val="1D2129"/>
                </a:solidFill>
                <a:effectLst/>
                <a:latin typeface="UbuntuMono"/>
              </a:rPr>
              <a:t>Access Methods</a:t>
            </a:r>
            <a:r>
              <a:rPr lang="en-US" altLang="zh-CN" sz="3600" b="1" dirty="0"/>
              <a:t>: </a:t>
            </a:r>
            <a:r>
              <a:rPr lang="en-US" altLang="zh-CN" sz="3600" b="1" dirty="0" err="1"/>
              <a:t>MuIti</a:t>
            </a:r>
            <a:r>
              <a:rPr lang="en-US" altLang="zh-CN" sz="3600" b="1" dirty="0"/>
              <a:t>-index Scan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06F9A54-8A25-571D-83E2-DE4492D418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429000"/>
            <a:ext cx="5943600" cy="256390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7B30556C-FFF1-427B-A7BC-7480C72BA1A5}"/>
              </a:ext>
            </a:extLst>
          </p:cNvPr>
          <p:cNvSpPr txBox="1"/>
          <p:nvPr/>
        </p:nvSpPr>
        <p:spPr>
          <a:xfrm>
            <a:off x="228600" y="975160"/>
            <a:ext cx="8153400" cy="2536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 fontAlgn="base">
              <a:spcBef>
                <a:spcPts val="750"/>
              </a:spcBef>
              <a:spcAft>
                <a:spcPts val="750"/>
              </a:spcAft>
              <a:buFont typeface="Wingdings" panose="05000000000000000000" pitchFamily="2" charset="2"/>
              <a:buChar char="l"/>
            </a:pPr>
            <a:r>
              <a:rPr lang="en-US" altLang="zh-CN" sz="2000" b="0" i="0" dirty="0">
                <a:solidFill>
                  <a:srgbClr val="1D2129"/>
                </a:solidFill>
                <a:effectLst/>
                <a:latin typeface="UbuntuMono"/>
              </a:rPr>
              <a:t>If there are multiple indexes that the DBMS can use for a query:</a:t>
            </a:r>
          </a:p>
          <a:p>
            <a:pPr marL="342900" indent="-342900" algn="l" fontAlgn="base">
              <a:spcBef>
                <a:spcPts val="750"/>
              </a:spcBef>
              <a:spcAft>
                <a:spcPts val="750"/>
              </a:spcAft>
              <a:buFont typeface="Wingdings" panose="05000000000000000000" pitchFamily="2" charset="2"/>
              <a:buChar char="l"/>
            </a:pPr>
            <a:r>
              <a:rPr lang="en-US" altLang="zh-CN" sz="2000" b="0" i="0" dirty="0">
                <a:solidFill>
                  <a:srgbClr val="1D2129"/>
                </a:solidFill>
                <a:effectLst/>
                <a:latin typeface="UbuntuMono"/>
              </a:rPr>
              <a:t> Compute sets of Record IDs using each matching index.</a:t>
            </a:r>
          </a:p>
          <a:p>
            <a:pPr marL="342900" indent="-342900" algn="l" fontAlgn="base">
              <a:spcBef>
                <a:spcPts val="750"/>
              </a:spcBef>
              <a:spcAft>
                <a:spcPts val="750"/>
              </a:spcAft>
              <a:buFont typeface="Wingdings" panose="05000000000000000000" pitchFamily="2" charset="2"/>
              <a:buChar char="l"/>
            </a:pPr>
            <a:r>
              <a:rPr lang="en-US" altLang="zh-CN" sz="2000" b="0" i="0" dirty="0">
                <a:solidFill>
                  <a:srgbClr val="1D2129"/>
                </a:solidFill>
                <a:effectLst/>
                <a:latin typeface="UbuntuMono"/>
              </a:rPr>
              <a:t> Combine these sets based on the query’s predicates (union vs. intersect).</a:t>
            </a:r>
          </a:p>
          <a:p>
            <a:pPr marL="342900" indent="-342900" algn="l" fontAlgn="base">
              <a:spcBef>
                <a:spcPts val="750"/>
              </a:spcBef>
              <a:spcAft>
                <a:spcPts val="750"/>
              </a:spcAft>
              <a:buFont typeface="Wingdings" panose="05000000000000000000" pitchFamily="2" charset="2"/>
              <a:buChar char="l"/>
            </a:pPr>
            <a:r>
              <a:rPr lang="en-US" altLang="zh-CN" sz="2000" b="0" i="0" dirty="0">
                <a:solidFill>
                  <a:srgbClr val="1D2129"/>
                </a:solidFill>
                <a:effectLst/>
                <a:latin typeface="UbuntuMono"/>
              </a:rPr>
              <a:t> Retrieve the records and apply any remaining predicates</a:t>
            </a:r>
            <a:endParaRPr lang="en-US" altLang="zh-CN" sz="2000" dirty="0">
              <a:solidFill>
                <a:srgbClr val="1D2129"/>
              </a:solidFill>
              <a:latin typeface="UbuntuMono"/>
            </a:endParaRPr>
          </a:p>
          <a:p>
            <a:pPr algn="l" fontAlgn="base">
              <a:spcBef>
                <a:spcPts val="1650"/>
              </a:spcBef>
              <a:spcAft>
                <a:spcPts val="1650"/>
              </a:spcAft>
            </a:pPr>
            <a:endParaRPr lang="zh-CN" altLang="en-US" b="0" i="0" dirty="0">
              <a:solidFill>
                <a:srgbClr val="1D2129"/>
              </a:solidFill>
              <a:effectLst/>
              <a:latin typeface="UbuntuMono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AB5D7D87-0235-B7D3-9B87-BD1A197DE4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4243" y="3630389"/>
            <a:ext cx="3657600" cy="1699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0585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22812" y="2667000"/>
            <a:ext cx="2746375" cy="103233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0"/>
              </a:spcBef>
            </a:pPr>
            <a:r>
              <a:rPr lang="en-US" sz="6600" dirty="0"/>
              <a:t>Q&amp;A</a:t>
            </a:r>
            <a:endParaRPr sz="660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85"/>
              </a:lnSpc>
            </a:pPr>
            <a:fld id="{81D60167-4931-47E6-BA6A-407CBD079E47}" type="slidenum">
              <a:rPr dirty="0"/>
              <a:t>11</a:t>
            </a:fld>
            <a:endParaRPr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jRlNmU1YmFmMjE3YWQ4YWFhNmI1NmExMWY2MDljOTE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2116</TotalTime>
  <Words>797</Words>
  <Application>Microsoft Office PowerPoint</Application>
  <PresentationFormat>宽屏</PresentationFormat>
  <Paragraphs>87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UbuntuMono</vt:lpstr>
      <vt:lpstr>等线</vt:lpstr>
      <vt:lpstr>Arial</vt:lpstr>
      <vt:lpstr>Calibri</vt:lpstr>
      <vt:lpstr>Georgia</vt:lpstr>
      <vt:lpstr>Lucida Console</vt:lpstr>
      <vt:lpstr>Segoe UI</vt:lpstr>
      <vt:lpstr>Wingdings</vt:lpstr>
      <vt:lpstr>Office Theme</vt:lpstr>
      <vt:lpstr>CSC3170 Tutorial 10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Q&amp;A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CSC3170 Tutorial 6</dc:title>
  <dc:creator>ASUS</dc:creator>
  <cp:lastModifiedBy>慧中 王</cp:lastModifiedBy>
  <cp:revision>112</cp:revision>
  <dcterms:created xsi:type="dcterms:W3CDTF">2024-09-09T11:07:00Z</dcterms:created>
  <dcterms:modified xsi:type="dcterms:W3CDTF">2024-11-28T10:26:45Z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2024-09-06T00:00:00Z</vt:filetime>
  </property>
  <property fmtid="{D5CDD505-2E9C-101B-9397-08002B2CF9AE}" pid="3" name="LastSaved">
    <vt:filetime>2024-09-10T00:00:00Z</vt:filetime>
  </property>
  <property fmtid="{D5CDD505-2E9C-101B-9397-08002B2CF9AE}" pid="4" name="ICV">
    <vt:lpwstr>9EDA8BBE6CC14CDCAC902ABE68C38F9E_13</vt:lpwstr>
  </property>
  <property fmtid="{D5CDD505-2E9C-101B-9397-08002B2CF9AE}" pid="5" name="KSOProductBuildVer">
    <vt:lpwstr>2052-12.1.0.18276</vt:lpwstr>
  </property>
</Properties>
</file>